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6" r:id="rId4"/>
  </p:sldMasterIdLst>
  <p:notesMasterIdLst>
    <p:notesMasterId r:id="rId33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322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8C012-17B7-43FF-82FF-2057E0A05E3B}" type="datetimeFigureOut">
              <a:rPr lang="es-CO" smtClean="0"/>
              <a:t>24/02/2026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A23536-1C46-4FCC-A4FF-833AD444C8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0768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A23536-1C46-4FCC-A4FF-833AD444C800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0281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3600450"/>
            <a:ext cx="7063740" cy="1268730"/>
          </a:xfrm>
        </p:spPr>
        <p:txBody>
          <a:bodyPr>
            <a:normAutofit/>
          </a:bodyPr>
          <a:lstStyle>
            <a:lvl1pPr marL="0" indent="0" algn="l">
              <a:buNone/>
              <a:defRPr sz="1650" baseline="0">
                <a:solidFill>
                  <a:schemeClr val="tx1">
                    <a:lumMod val="75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30704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6531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5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3600450"/>
            <a:ext cx="7063740" cy="1268730"/>
          </a:xfrm>
        </p:spPr>
        <p:txBody>
          <a:bodyPr anchor="t">
            <a:normAutofit/>
          </a:bodyPr>
          <a:lstStyle>
            <a:lvl1pPr marL="0" indent="0">
              <a:buNone/>
              <a:defRPr sz="16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62196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0494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94860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500"/>
              </a:spcBef>
              <a:buFontTx/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61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353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5284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400300" cy="1200148"/>
          </a:xfrm>
        </p:spPr>
        <p:txBody>
          <a:bodyPr anchor="b">
            <a:normAutofit/>
          </a:bodyPr>
          <a:lstStyle>
            <a:lvl1pPr>
              <a:defRPr sz="24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514350"/>
            <a:ext cx="4559300" cy="411480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74801"/>
            <a:ext cx="2400300" cy="28575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600"/>
              </a:spcBef>
              <a:buNone/>
              <a:defRPr sz="9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3130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29050"/>
            <a:ext cx="8469630" cy="13144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943350"/>
            <a:ext cx="7486650" cy="685800"/>
          </a:xfrm>
        </p:spPr>
        <p:txBody>
          <a:bodyPr anchor="b">
            <a:normAutofit/>
          </a:bodyPr>
          <a:lstStyle>
            <a:lvl1pPr>
              <a:defRPr sz="2100" b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3846692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581442"/>
            <a:ext cx="7486650" cy="447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975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9450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500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285750"/>
            <a:ext cx="1857375" cy="442317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285750"/>
            <a:ext cx="5800725" cy="442317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2147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0449" y="1791970"/>
            <a:ext cx="6023101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87728" y="2931922"/>
            <a:ext cx="6368542" cy="848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749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808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567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371600"/>
            <a:ext cx="644652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8098157" y="748903"/>
            <a:ext cx="14287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469506" y="3034903"/>
            <a:ext cx="2686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7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7249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spc="-38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1050"/>
        </a:spcBef>
        <a:spcAft>
          <a:spcPts val="150"/>
        </a:spcAft>
        <a:buClr>
          <a:schemeClr val="accent1"/>
        </a:buClr>
        <a:buSzPct val="80000"/>
        <a:buFont typeface="Arial" pitchFamily="34" charset="0"/>
        <a:buChar char="•"/>
        <a:defRPr sz="1350" kern="1200" spc="8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0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3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35.png"/><Relationship Id="rId7" Type="http://schemas.openxmlformats.org/officeDocument/2006/relationships/image" Target="../media/image13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image" Target="../media/image38.png"/><Relationship Id="rId7" Type="http://schemas.openxmlformats.org/officeDocument/2006/relationships/image" Target="../media/image13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3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45.png"/><Relationship Id="rId7" Type="http://schemas.openxmlformats.org/officeDocument/2006/relationships/image" Target="../media/image12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8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50.png"/><Relationship Id="rId7" Type="http://schemas.openxmlformats.org/officeDocument/2006/relationships/image" Target="../media/image12.jp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51.png"/><Relationship Id="rId9" Type="http://schemas.openxmlformats.org/officeDocument/2006/relationships/image" Target="../media/image52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54.png"/><Relationship Id="rId7" Type="http://schemas.openxmlformats.org/officeDocument/2006/relationships/image" Target="../media/image12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11.jpg"/><Relationship Id="rId4" Type="http://schemas.openxmlformats.org/officeDocument/2006/relationships/image" Target="../media/image55.png"/><Relationship Id="rId9" Type="http://schemas.openxmlformats.org/officeDocument/2006/relationships/image" Target="../media/image56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g"/><Relationship Id="rId3" Type="http://schemas.openxmlformats.org/officeDocument/2006/relationships/image" Target="../media/image58.png"/><Relationship Id="rId7" Type="http://schemas.openxmlformats.org/officeDocument/2006/relationships/image" Target="../media/image13.jp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1.png"/><Relationship Id="rId7" Type="http://schemas.openxmlformats.org/officeDocument/2006/relationships/image" Target="../media/image62.jp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64.png"/><Relationship Id="rId7" Type="http://schemas.openxmlformats.org/officeDocument/2006/relationships/image" Target="../media/image11.jp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66.png"/><Relationship Id="rId10" Type="http://schemas.openxmlformats.org/officeDocument/2006/relationships/hyperlink" Target="http://prezi.com/b6e7itt3zy66/estandar-ieee-1074-developing-software-life-cycle-process/" TargetMode="External"/><Relationship Id="rId4" Type="http://schemas.openxmlformats.org/officeDocument/2006/relationships/image" Target="../media/image65.png"/><Relationship Id="rId9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-4876800" y="1460090"/>
            <a:ext cx="138684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5930">
              <a:lnSpc>
                <a:spcPct val="100000"/>
              </a:lnSpc>
              <a:spcBef>
                <a:spcPts val="100"/>
              </a:spcBef>
            </a:pPr>
            <a:r>
              <a:rPr lang="es-ES" sz="4800" spc="-5" dirty="0">
                <a:solidFill>
                  <a:schemeClr val="tx1"/>
                </a:solidFill>
              </a:rPr>
              <a:t>Sistemas de información </a:t>
            </a:r>
            <a:endParaRPr sz="4800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xfrm>
            <a:off x="1387728" y="2931922"/>
            <a:ext cx="7680072" cy="881652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455670" marR="5080" indent="66675">
              <a:spcBef>
                <a:spcPts val="795"/>
              </a:spcBef>
            </a:pPr>
            <a:r>
              <a:rPr spc="-20" dirty="0">
                <a:solidFill>
                  <a:srgbClr val="00B050"/>
                </a:solidFill>
              </a:rPr>
              <a:t>CICLO </a:t>
            </a:r>
            <a:r>
              <a:rPr spc="-5" dirty="0">
                <a:solidFill>
                  <a:srgbClr val="00B050"/>
                </a:solidFill>
              </a:rPr>
              <a:t>DE </a:t>
            </a:r>
            <a:r>
              <a:rPr spc="-15" dirty="0">
                <a:solidFill>
                  <a:srgbClr val="00B050"/>
                </a:solidFill>
              </a:rPr>
              <a:t>VIDA</a:t>
            </a:r>
            <a:endParaRPr lang="es-ES" spc="-15" dirty="0">
              <a:solidFill>
                <a:srgbClr val="00B050"/>
              </a:solidFill>
            </a:endParaRPr>
          </a:p>
          <a:p>
            <a:pPr marL="3455670" marR="5080" indent="66675">
              <a:spcBef>
                <a:spcPts val="795"/>
              </a:spcBef>
            </a:pPr>
            <a:r>
              <a:rPr lang="es-ES" sz="1400" spc="-15" dirty="0">
                <a:solidFill>
                  <a:schemeClr val="tx1"/>
                </a:solidFill>
              </a:rPr>
              <a:t>B</a:t>
            </a:r>
            <a:r>
              <a:rPr lang="es-CO" sz="1400" spc="-15" dirty="0">
                <a:solidFill>
                  <a:schemeClr val="tx1"/>
                </a:solidFill>
              </a:rPr>
              <a:t>rayan Torres</a:t>
            </a:r>
            <a:endParaRPr sz="1400" spc="-5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9489" y="4868976"/>
            <a:ext cx="829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5" dirty="0">
                <a:solidFill>
                  <a:srgbClr val="800080"/>
                </a:solidFill>
                <a:latin typeface="TeXGyrePagella"/>
                <a:cs typeface="TeXGyrePagella"/>
              </a:rPr>
              <a:t>Sistemas</a:t>
            </a:r>
            <a:r>
              <a:rPr sz="1200" b="1" i="1" spc="-55" dirty="0">
                <a:solidFill>
                  <a:srgbClr val="800080"/>
                </a:solidFill>
                <a:latin typeface="TeXGyrePagella"/>
                <a:cs typeface="TeXGyrePagella"/>
              </a:rPr>
              <a:t> </a:t>
            </a:r>
            <a:r>
              <a:rPr sz="1200" b="1" i="1" spc="-5" dirty="0">
                <a:solidFill>
                  <a:srgbClr val="800080"/>
                </a:solidFill>
                <a:latin typeface="TeXGyrePagella"/>
                <a:cs typeface="TeXGyrePagella"/>
              </a:rPr>
              <a:t>II.</a:t>
            </a:r>
            <a:endParaRPr sz="1200">
              <a:latin typeface="TeXGyrePagella"/>
              <a:cs typeface="TeXGyrePagell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32585" y="296107"/>
            <a:ext cx="2530951" cy="245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12315" y="966203"/>
            <a:ext cx="25596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5" dirty="0">
                <a:solidFill>
                  <a:srgbClr val="000000"/>
                </a:solidFill>
                <a:latin typeface="Carlito"/>
                <a:cs typeface="Carlito"/>
              </a:rPr>
              <a:t>CICLO </a:t>
            </a:r>
            <a:r>
              <a:rPr sz="2700" spc="-5" dirty="0">
                <a:solidFill>
                  <a:srgbClr val="000000"/>
                </a:solidFill>
                <a:latin typeface="Carlito"/>
                <a:cs typeface="Carlito"/>
              </a:rPr>
              <a:t>DE </a:t>
            </a:r>
            <a:r>
              <a:rPr sz="2700" spc="-20" dirty="0">
                <a:solidFill>
                  <a:srgbClr val="000000"/>
                </a:solidFill>
                <a:latin typeface="Carlito"/>
                <a:cs typeface="Carlito"/>
              </a:rPr>
              <a:t>VIDA</a:t>
            </a:r>
            <a:r>
              <a:rPr sz="2700" spc="-6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700" spc="-5" dirty="0">
                <a:solidFill>
                  <a:srgbClr val="000000"/>
                </a:solidFill>
                <a:latin typeface="Carlito"/>
                <a:cs typeface="Carlito"/>
              </a:rPr>
              <a:t>DE</a:t>
            </a:r>
            <a:endParaRPr sz="2700" dirty="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8800" y="1396037"/>
            <a:ext cx="6360160" cy="1582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 marR="687705" indent="-132715" algn="just">
              <a:lnSpc>
                <a:spcPct val="100000"/>
              </a:lnSpc>
              <a:spcBef>
                <a:spcPts val="2300"/>
              </a:spcBef>
              <a:buChar char="•"/>
              <a:tabLst>
                <a:tab pos="148590" algn="l"/>
              </a:tabLst>
            </a:pPr>
            <a:r>
              <a:rPr sz="1800" spc="-5" dirty="0">
                <a:latin typeface="Times New Roman"/>
                <a:cs typeface="Times New Roman"/>
              </a:rPr>
              <a:t>“</a:t>
            </a:r>
            <a:r>
              <a:rPr sz="2100" spc="-5" dirty="0">
                <a:latin typeface="Times New Roman"/>
                <a:cs typeface="Times New Roman"/>
              </a:rPr>
              <a:t>Es </a:t>
            </a:r>
            <a:r>
              <a:rPr sz="2100" dirty="0">
                <a:latin typeface="Times New Roman"/>
                <a:cs typeface="Times New Roman"/>
              </a:rPr>
              <a:t>un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proceso </a:t>
            </a:r>
            <a:r>
              <a:rPr sz="2100" dirty="0">
                <a:latin typeface="Times New Roman"/>
                <a:cs typeface="Times New Roman"/>
              </a:rPr>
              <a:t>por el cual los analistas de </a:t>
            </a:r>
            <a:r>
              <a:rPr sz="2100" spc="-5" dirty="0">
                <a:latin typeface="Times New Roman"/>
                <a:cs typeface="Times New Roman"/>
              </a:rPr>
              <a:t>sistemas,  </a:t>
            </a:r>
            <a:r>
              <a:rPr sz="2100" dirty="0">
                <a:latin typeface="Times New Roman"/>
                <a:cs typeface="Times New Roman"/>
              </a:rPr>
              <a:t>los ingenieros de software, </a:t>
            </a:r>
            <a:r>
              <a:rPr sz="2100" spc="-5" dirty="0">
                <a:latin typeface="Times New Roman"/>
                <a:cs typeface="Times New Roman"/>
              </a:rPr>
              <a:t>los programadores </a:t>
            </a:r>
            <a:r>
              <a:rPr sz="2100" dirty="0">
                <a:latin typeface="Times New Roman"/>
                <a:cs typeface="Times New Roman"/>
              </a:rPr>
              <a:t>y </a:t>
            </a:r>
            <a:r>
              <a:rPr sz="2100" spc="-5" dirty="0">
                <a:latin typeface="Times New Roman"/>
                <a:cs typeface="Times New Roman"/>
              </a:rPr>
              <a:t>los  </a:t>
            </a:r>
            <a:r>
              <a:rPr sz="2100" dirty="0">
                <a:latin typeface="Times New Roman"/>
                <a:cs typeface="Times New Roman"/>
              </a:rPr>
              <a:t>usuarios finales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elaboran </a:t>
            </a:r>
            <a:r>
              <a:rPr sz="2100" spc="-5" dirty="0">
                <a:latin typeface="Times New Roman"/>
                <a:cs typeface="Times New Roman"/>
              </a:rPr>
              <a:t>sistemas </a:t>
            </a:r>
            <a:r>
              <a:rPr sz="2100" dirty="0">
                <a:latin typeface="Times New Roman"/>
                <a:cs typeface="Times New Roman"/>
              </a:rPr>
              <a:t>de </a:t>
            </a:r>
            <a:r>
              <a:rPr sz="2100" spc="-5" dirty="0">
                <a:latin typeface="Times New Roman"/>
                <a:cs typeface="Times New Roman"/>
              </a:rPr>
              <a:t>información </a:t>
            </a:r>
            <a:r>
              <a:rPr sz="2100" dirty="0">
                <a:latin typeface="Times New Roman"/>
                <a:cs typeface="Times New Roman"/>
              </a:rPr>
              <a:t>y  aplicaciones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informáticas”.</a:t>
            </a:r>
            <a:endParaRPr sz="2100" dirty="0">
              <a:latin typeface="Times New Roman"/>
              <a:cs typeface="Times New Roman"/>
            </a:endParaRPr>
          </a:p>
          <a:p>
            <a:pPr marL="2699385" algn="just">
              <a:lnSpc>
                <a:spcPct val="100000"/>
              </a:lnSpc>
              <a:spcBef>
                <a:spcPts val="15"/>
              </a:spcBef>
            </a:pPr>
            <a:r>
              <a:rPr sz="1800" i="1" spc="-5" dirty="0">
                <a:latin typeface="Times New Roman"/>
                <a:cs typeface="Times New Roman"/>
              </a:rPr>
              <a:t>(Whitten </a:t>
            </a:r>
            <a:r>
              <a:rPr sz="1800" i="1" dirty="0">
                <a:latin typeface="Times New Roman"/>
                <a:cs typeface="Times New Roman"/>
              </a:rPr>
              <a:t>J., Bentley </a:t>
            </a:r>
            <a:r>
              <a:rPr sz="1800" i="1" spc="-5" dirty="0">
                <a:latin typeface="Times New Roman"/>
                <a:cs typeface="Times New Roman"/>
              </a:rPr>
              <a:t>L., </a:t>
            </a:r>
            <a:r>
              <a:rPr sz="1800" i="1" dirty="0">
                <a:latin typeface="Times New Roman"/>
                <a:cs typeface="Times New Roman"/>
              </a:rPr>
              <a:t>Barlow </a:t>
            </a:r>
            <a:r>
              <a:rPr sz="1800" i="1" spc="-114" dirty="0">
                <a:latin typeface="Times New Roman"/>
                <a:cs typeface="Times New Roman"/>
              </a:rPr>
              <a:t>V.</a:t>
            </a:r>
            <a:r>
              <a:rPr sz="1800" i="1" spc="-6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1996)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17851" y="3262998"/>
            <a:ext cx="1709102" cy="13099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DDF0A82-938B-4911-A9C3-A764FB36BB1E}"/>
              </a:ext>
            </a:extLst>
          </p:cNvPr>
          <p:cNvSpPr txBox="1"/>
          <p:nvPr/>
        </p:nvSpPr>
        <p:spPr>
          <a:xfrm>
            <a:off x="612520" y="277456"/>
            <a:ext cx="7371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dirty="0"/>
              <a:t>LOS SISTEMAS DE INFORMACIÓN </a:t>
            </a:r>
            <a:endParaRPr lang="es-CO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000" y="498728"/>
            <a:ext cx="5878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487C"/>
                </a:solidFill>
                <a:latin typeface="Times New Roman"/>
                <a:cs typeface="Times New Roman"/>
              </a:rPr>
              <a:t>EL </a:t>
            </a:r>
            <a:r>
              <a:rPr sz="1800" b="1" spc="-5" dirty="0">
                <a:solidFill>
                  <a:srgbClr val="1F487C"/>
                </a:solidFill>
                <a:latin typeface="Times New Roman"/>
                <a:cs typeface="Times New Roman"/>
              </a:rPr>
              <a:t>DESARROLLO DE SISTEMAS DE</a:t>
            </a:r>
            <a:r>
              <a:rPr sz="1800" b="1" spc="39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1F487C"/>
                </a:solidFill>
                <a:latin typeface="Times New Roman"/>
                <a:cs typeface="Times New Roman"/>
              </a:rPr>
              <a:t>INFORMACION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16177" y="1372870"/>
            <a:ext cx="61956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47820" algn="l"/>
                <a:tab pos="4432935" algn="l"/>
              </a:tabLst>
            </a:pPr>
            <a:r>
              <a:rPr sz="2100" spc="-5" dirty="0">
                <a:solidFill>
                  <a:srgbClr val="000000"/>
                </a:solidFill>
                <a:latin typeface="Times New Roman"/>
                <a:cs typeface="Times New Roman"/>
              </a:rPr>
              <a:t>Cic</a:t>
            </a:r>
            <a:r>
              <a:rPr sz="2100" dirty="0">
                <a:solidFill>
                  <a:srgbClr val="000000"/>
                </a:solidFill>
                <a:latin typeface="Times New Roman"/>
                <a:cs typeface="Times New Roman"/>
              </a:rPr>
              <a:t>lo </a:t>
            </a:r>
            <a:r>
              <a:rPr sz="2100" spc="-1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210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21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100" spc="-85" dirty="0">
                <a:solidFill>
                  <a:srgbClr val="000000"/>
                </a:solidFill>
                <a:latin typeface="Times New Roman"/>
                <a:cs typeface="Times New Roman"/>
              </a:rPr>
              <a:t>V</a:t>
            </a:r>
            <a:r>
              <a:rPr sz="2100" spc="-5" dirty="0">
                <a:solidFill>
                  <a:srgbClr val="000000"/>
                </a:solidFill>
                <a:latin typeface="Times New Roman"/>
                <a:cs typeface="Times New Roman"/>
              </a:rPr>
              <a:t>ida </a:t>
            </a:r>
            <a:r>
              <a:rPr sz="2100" dirty="0">
                <a:solidFill>
                  <a:srgbClr val="000000"/>
                </a:solidFill>
                <a:latin typeface="Times New Roman"/>
                <a:cs typeface="Times New Roman"/>
              </a:rPr>
              <a:t>= </a:t>
            </a:r>
            <a:r>
              <a:rPr sz="2100" spc="-20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21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2100" spc="5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2100" dirty="0">
                <a:solidFill>
                  <a:srgbClr val="000000"/>
                </a:solidFill>
                <a:latin typeface="Times New Roman"/>
                <a:cs typeface="Times New Roman"/>
              </a:rPr>
              <a:t>lo</a:t>
            </a:r>
            <a:r>
              <a:rPr sz="21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100" spc="-5" dirty="0">
                <a:solidFill>
                  <a:srgbClr val="000000"/>
                </a:solidFill>
                <a:latin typeface="Times New Roman"/>
                <a:cs typeface="Times New Roman"/>
              </a:rPr>
              <a:t>de</a:t>
            </a:r>
            <a:r>
              <a:rPr sz="2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100" spc="-20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2100" spc="-5" dirty="0">
                <a:solidFill>
                  <a:srgbClr val="000000"/>
                </a:solidFill>
                <a:latin typeface="Times New Roman"/>
                <a:cs typeface="Times New Roman"/>
              </a:rPr>
              <a:t>es</a:t>
            </a:r>
            <a:r>
              <a:rPr sz="2100" dirty="0">
                <a:solidFill>
                  <a:srgbClr val="000000"/>
                </a:solidFill>
                <a:latin typeface="Times New Roman"/>
                <a:cs typeface="Times New Roman"/>
              </a:rPr>
              <a:t>ar</a:t>
            </a:r>
            <a:r>
              <a:rPr sz="2100" spc="-30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2100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2100" spc="5" dirty="0">
                <a:solidFill>
                  <a:srgbClr val="000000"/>
                </a:solidFill>
                <a:latin typeface="Times New Roman"/>
                <a:cs typeface="Times New Roman"/>
              </a:rPr>
              <a:t>l</a:t>
            </a:r>
            <a:r>
              <a:rPr sz="2100" dirty="0">
                <a:solidFill>
                  <a:srgbClr val="000000"/>
                </a:solidFill>
                <a:latin typeface="Times New Roman"/>
                <a:cs typeface="Times New Roman"/>
              </a:rPr>
              <a:t>lo	+	Mantenim</a:t>
            </a:r>
            <a:r>
              <a:rPr sz="2100" spc="5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2100" dirty="0">
                <a:solidFill>
                  <a:srgbClr val="000000"/>
                </a:solidFill>
                <a:latin typeface="Times New Roman"/>
                <a:cs typeface="Times New Roman"/>
              </a:rPr>
              <a:t>ento</a:t>
            </a:r>
            <a:endParaRPr sz="21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07591" y="2037588"/>
            <a:ext cx="6240780" cy="1372870"/>
            <a:chOff x="1307591" y="2037588"/>
            <a:chExt cx="6240780" cy="1372870"/>
          </a:xfrm>
        </p:grpSpPr>
        <p:sp>
          <p:nvSpPr>
            <p:cNvPr id="5" name="object 5"/>
            <p:cNvSpPr/>
            <p:nvPr/>
          </p:nvSpPr>
          <p:spPr>
            <a:xfrm>
              <a:off x="1313687" y="2611755"/>
              <a:ext cx="1828800" cy="792480"/>
            </a:xfrm>
            <a:custGeom>
              <a:avLst/>
              <a:gdLst/>
              <a:ahLst/>
              <a:cxnLst/>
              <a:rect l="l" t="t" r="r" b="b"/>
              <a:pathLst>
                <a:path w="1828800" h="792479">
                  <a:moveTo>
                    <a:pt x="0" y="0"/>
                  </a:moveTo>
                  <a:lnTo>
                    <a:pt x="0" y="251459"/>
                  </a:lnTo>
                  <a:lnTo>
                    <a:pt x="1858" y="271354"/>
                  </a:lnTo>
                  <a:lnTo>
                    <a:pt x="16522" y="310587"/>
                  </a:lnTo>
                  <a:lnTo>
                    <a:pt x="45334" y="348927"/>
                  </a:lnTo>
                  <a:lnTo>
                    <a:pt x="87755" y="386191"/>
                  </a:lnTo>
                  <a:lnTo>
                    <a:pt x="143245" y="422195"/>
                  </a:lnTo>
                  <a:lnTo>
                    <a:pt x="211266" y="456756"/>
                  </a:lnTo>
                  <a:lnTo>
                    <a:pt x="249807" y="473438"/>
                  </a:lnTo>
                  <a:lnTo>
                    <a:pt x="291278" y="489691"/>
                  </a:lnTo>
                  <a:lnTo>
                    <a:pt x="335613" y="505491"/>
                  </a:lnTo>
                  <a:lnTo>
                    <a:pt x="382743" y="520816"/>
                  </a:lnTo>
                  <a:lnTo>
                    <a:pt x="432602" y="535643"/>
                  </a:lnTo>
                  <a:lnTo>
                    <a:pt x="485122" y="549949"/>
                  </a:lnTo>
                  <a:lnTo>
                    <a:pt x="540236" y="563711"/>
                  </a:lnTo>
                  <a:lnTo>
                    <a:pt x="597876" y="576906"/>
                  </a:lnTo>
                  <a:lnTo>
                    <a:pt x="657974" y="589511"/>
                  </a:lnTo>
                  <a:lnTo>
                    <a:pt x="720465" y="601503"/>
                  </a:lnTo>
                  <a:lnTo>
                    <a:pt x="785279" y="612860"/>
                  </a:lnTo>
                  <a:lnTo>
                    <a:pt x="852350" y="623558"/>
                  </a:lnTo>
                  <a:lnTo>
                    <a:pt x="921611" y="633575"/>
                  </a:lnTo>
                  <a:lnTo>
                    <a:pt x="992993" y="642887"/>
                  </a:lnTo>
                  <a:lnTo>
                    <a:pt x="1066431" y="651472"/>
                  </a:lnTo>
                  <a:lnTo>
                    <a:pt x="1141855" y="659307"/>
                  </a:lnTo>
                  <a:lnTo>
                    <a:pt x="1219200" y="666369"/>
                  </a:lnTo>
                  <a:lnTo>
                    <a:pt x="1219200" y="792099"/>
                  </a:lnTo>
                  <a:lnTo>
                    <a:pt x="1828800" y="565784"/>
                  </a:lnTo>
                  <a:lnTo>
                    <a:pt x="1219200" y="289178"/>
                  </a:lnTo>
                  <a:lnTo>
                    <a:pt x="1219200" y="414908"/>
                  </a:lnTo>
                  <a:lnTo>
                    <a:pt x="1141855" y="407847"/>
                  </a:lnTo>
                  <a:lnTo>
                    <a:pt x="1066431" y="400012"/>
                  </a:lnTo>
                  <a:lnTo>
                    <a:pt x="992993" y="391427"/>
                  </a:lnTo>
                  <a:lnTo>
                    <a:pt x="921611" y="382115"/>
                  </a:lnTo>
                  <a:lnTo>
                    <a:pt x="852350" y="372098"/>
                  </a:lnTo>
                  <a:lnTo>
                    <a:pt x="785279" y="361400"/>
                  </a:lnTo>
                  <a:lnTo>
                    <a:pt x="720465" y="350043"/>
                  </a:lnTo>
                  <a:lnTo>
                    <a:pt x="657974" y="338051"/>
                  </a:lnTo>
                  <a:lnTo>
                    <a:pt x="597876" y="325446"/>
                  </a:lnTo>
                  <a:lnTo>
                    <a:pt x="540236" y="312251"/>
                  </a:lnTo>
                  <a:lnTo>
                    <a:pt x="485122" y="298489"/>
                  </a:lnTo>
                  <a:lnTo>
                    <a:pt x="432602" y="284183"/>
                  </a:lnTo>
                  <a:lnTo>
                    <a:pt x="382743" y="269356"/>
                  </a:lnTo>
                  <a:lnTo>
                    <a:pt x="335613" y="254031"/>
                  </a:lnTo>
                  <a:lnTo>
                    <a:pt x="291278" y="238231"/>
                  </a:lnTo>
                  <a:lnTo>
                    <a:pt x="249807" y="221978"/>
                  </a:lnTo>
                  <a:lnTo>
                    <a:pt x="211266" y="205296"/>
                  </a:lnTo>
                  <a:lnTo>
                    <a:pt x="175723" y="188207"/>
                  </a:lnTo>
                  <a:lnTo>
                    <a:pt x="113900" y="152902"/>
                  </a:lnTo>
                  <a:lnTo>
                    <a:pt x="64877" y="116245"/>
                  </a:lnTo>
                  <a:lnTo>
                    <a:pt x="29193" y="78420"/>
                  </a:lnTo>
                  <a:lnTo>
                    <a:pt x="7388" y="39610"/>
                  </a:lnTo>
                  <a:lnTo>
                    <a:pt x="1858" y="19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13224" y="2171700"/>
              <a:ext cx="1829435" cy="565785"/>
            </a:xfrm>
            <a:custGeom>
              <a:avLst/>
              <a:gdLst/>
              <a:ahLst/>
              <a:cxnLst/>
              <a:rect l="l" t="t" r="r" b="b"/>
              <a:pathLst>
                <a:path w="1829435" h="565785">
                  <a:moveTo>
                    <a:pt x="1829263" y="0"/>
                  </a:moveTo>
                  <a:lnTo>
                    <a:pt x="1776222" y="186"/>
                  </a:lnTo>
                  <a:lnTo>
                    <a:pt x="1723267" y="743"/>
                  </a:lnTo>
                  <a:lnTo>
                    <a:pt x="1670434" y="1669"/>
                  </a:lnTo>
                  <a:lnTo>
                    <a:pt x="1617754" y="2962"/>
                  </a:lnTo>
                  <a:lnTo>
                    <a:pt x="1565261" y="4619"/>
                  </a:lnTo>
                  <a:lnTo>
                    <a:pt x="1512990" y="6638"/>
                  </a:lnTo>
                  <a:lnTo>
                    <a:pt x="1460973" y="9017"/>
                  </a:lnTo>
                  <a:lnTo>
                    <a:pt x="1409244" y="11753"/>
                  </a:lnTo>
                  <a:lnTo>
                    <a:pt x="1357837" y="14844"/>
                  </a:lnTo>
                  <a:lnTo>
                    <a:pt x="1306785" y="18287"/>
                  </a:lnTo>
                  <a:lnTo>
                    <a:pt x="1231239" y="24133"/>
                  </a:lnTo>
                  <a:lnTo>
                    <a:pt x="1157473" y="30689"/>
                  </a:lnTo>
                  <a:lnTo>
                    <a:pt x="1085534" y="37932"/>
                  </a:lnTo>
                  <a:lnTo>
                    <a:pt x="1015467" y="45844"/>
                  </a:lnTo>
                  <a:lnTo>
                    <a:pt x="947318" y="54404"/>
                  </a:lnTo>
                  <a:lnTo>
                    <a:pt x="881134" y="63591"/>
                  </a:lnTo>
                  <a:lnTo>
                    <a:pt x="816961" y="73384"/>
                  </a:lnTo>
                  <a:lnTo>
                    <a:pt x="754845" y="83764"/>
                  </a:lnTo>
                  <a:lnTo>
                    <a:pt x="694832" y="94709"/>
                  </a:lnTo>
                  <a:lnTo>
                    <a:pt x="636969" y="106199"/>
                  </a:lnTo>
                  <a:lnTo>
                    <a:pt x="581300" y="118213"/>
                  </a:lnTo>
                  <a:lnTo>
                    <a:pt x="527874" y="130731"/>
                  </a:lnTo>
                  <a:lnTo>
                    <a:pt x="476734" y="143733"/>
                  </a:lnTo>
                  <a:lnTo>
                    <a:pt x="427929" y="157197"/>
                  </a:lnTo>
                  <a:lnTo>
                    <a:pt x="381503" y="171104"/>
                  </a:lnTo>
                  <a:lnTo>
                    <a:pt x="337503" y="185432"/>
                  </a:lnTo>
                  <a:lnTo>
                    <a:pt x="295976" y="200162"/>
                  </a:lnTo>
                  <a:lnTo>
                    <a:pt x="256967" y="215272"/>
                  </a:lnTo>
                  <a:lnTo>
                    <a:pt x="220522" y="230743"/>
                  </a:lnTo>
                  <a:lnTo>
                    <a:pt x="155510" y="262682"/>
                  </a:lnTo>
                  <a:lnTo>
                    <a:pt x="101309" y="295814"/>
                  </a:lnTo>
                  <a:lnTo>
                    <a:pt x="58289" y="329977"/>
                  </a:lnTo>
                  <a:lnTo>
                    <a:pt x="26818" y="365005"/>
                  </a:lnTo>
                  <a:lnTo>
                    <a:pt x="7265" y="400734"/>
                  </a:lnTo>
                  <a:lnTo>
                    <a:pt x="0" y="437000"/>
                  </a:lnTo>
                  <a:lnTo>
                    <a:pt x="1090" y="455282"/>
                  </a:lnTo>
                  <a:lnTo>
                    <a:pt x="12948" y="492045"/>
                  </a:lnTo>
                  <a:lnTo>
                    <a:pt x="38016" y="528934"/>
                  </a:lnTo>
                  <a:lnTo>
                    <a:pt x="76663" y="565785"/>
                  </a:lnTo>
                  <a:lnTo>
                    <a:pt x="97031" y="550385"/>
                  </a:lnTo>
                  <a:lnTo>
                    <a:pt x="119579" y="535266"/>
                  </a:lnTo>
                  <a:lnTo>
                    <a:pt x="171017" y="505903"/>
                  </a:lnTo>
                  <a:lnTo>
                    <a:pt x="230580" y="477766"/>
                  </a:lnTo>
                  <a:lnTo>
                    <a:pt x="297870" y="450928"/>
                  </a:lnTo>
                  <a:lnTo>
                    <a:pt x="334290" y="438019"/>
                  </a:lnTo>
                  <a:lnTo>
                    <a:pt x="372493" y="425460"/>
                  </a:lnTo>
                  <a:lnTo>
                    <a:pt x="412429" y="413262"/>
                  </a:lnTo>
                  <a:lnTo>
                    <a:pt x="454050" y="401432"/>
                  </a:lnTo>
                  <a:lnTo>
                    <a:pt x="497305" y="389981"/>
                  </a:lnTo>
                  <a:lnTo>
                    <a:pt x="542146" y="378917"/>
                  </a:lnTo>
                  <a:lnTo>
                    <a:pt x="588521" y="368249"/>
                  </a:lnTo>
                  <a:lnTo>
                    <a:pt x="636382" y="357985"/>
                  </a:lnTo>
                  <a:lnTo>
                    <a:pt x="685680" y="348136"/>
                  </a:lnTo>
                  <a:lnTo>
                    <a:pt x="736364" y="338709"/>
                  </a:lnTo>
                  <a:lnTo>
                    <a:pt x="788385" y="329713"/>
                  </a:lnTo>
                  <a:lnTo>
                    <a:pt x="841694" y="321158"/>
                  </a:lnTo>
                  <a:lnTo>
                    <a:pt x="896240" y="313052"/>
                  </a:lnTo>
                  <a:lnTo>
                    <a:pt x="951975" y="305405"/>
                  </a:lnTo>
                  <a:lnTo>
                    <a:pt x="1008849" y="298225"/>
                  </a:lnTo>
                  <a:lnTo>
                    <a:pt x="1066811" y="291521"/>
                  </a:lnTo>
                  <a:lnTo>
                    <a:pt x="1125813" y="285302"/>
                  </a:lnTo>
                  <a:lnTo>
                    <a:pt x="1185805" y="279577"/>
                  </a:lnTo>
                  <a:lnTo>
                    <a:pt x="1246737" y="274355"/>
                  </a:lnTo>
                  <a:lnTo>
                    <a:pt x="1308561" y="269645"/>
                  </a:lnTo>
                  <a:lnTo>
                    <a:pt x="1371225" y="265456"/>
                  </a:lnTo>
                  <a:lnTo>
                    <a:pt x="1434681" y="261796"/>
                  </a:lnTo>
                  <a:lnTo>
                    <a:pt x="1498879" y="258675"/>
                  </a:lnTo>
                  <a:lnTo>
                    <a:pt x="1563769" y="256101"/>
                  </a:lnTo>
                  <a:lnTo>
                    <a:pt x="1629302" y="254084"/>
                  </a:lnTo>
                  <a:lnTo>
                    <a:pt x="1695428" y="252632"/>
                  </a:lnTo>
                  <a:lnTo>
                    <a:pt x="1762098" y="251754"/>
                  </a:lnTo>
                  <a:lnTo>
                    <a:pt x="1829263" y="251460"/>
                  </a:lnTo>
                  <a:lnTo>
                    <a:pt x="1829263" y="0"/>
                  </a:lnTo>
                  <a:close/>
                </a:path>
              </a:pathLst>
            </a:custGeom>
            <a:solidFill>
              <a:srgbClr val="4068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13687" y="2171700"/>
              <a:ext cx="1828800" cy="1232535"/>
            </a:xfrm>
            <a:custGeom>
              <a:avLst/>
              <a:gdLst/>
              <a:ahLst/>
              <a:cxnLst/>
              <a:rect l="l" t="t" r="r" b="b"/>
              <a:pathLst>
                <a:path w="1828800" h="1232535">
                  <a:moveTo>
                    <a:pt x="0" y="440055"/>
                  </a:moveTo>
                  <a:lnTo>
                    <a:pt x="7388" y="479665"/>
                  </a:lnTo>
                  <a:lnTo>
                    <a:pt x="29193" y="518475"/>
                  </a:lnTo>
                  <a:lnTo>
                    <a:pt x="64877" y="556300"/>
                  </a:lnTo>
                  <a:lnTo>
                    <a:pt x="113900" y="592957"/>
                  </a:lnTo>
                  <a:lnTo>
                    <a:pt x="175723" y="628262"/>
                  </a:lnTo>
                  <a:lnTo>
                    <a:pt x="211266" y="645351"/>
                  </a:lnTo>
                  <a:lnTo>
                    <a:pt x="249807" y="662033"/>
                  </a:lnTo>
                  <a:lnTo>
                    <a:pt x="291278" y="678286"/>
                  </a:lnTo>
                  <a:lnTo>
                    <a:pt x="335613" y="694086"/>
                  </a:lnTo>
                  <a:lnTo>
                    <a:pt x="382743" y="709411"/>
                  </a:lnTo>
                  <a:lnTo>
                    <a:pt x="432602" y="724238"/>
                  </a:lnTo>
                  <a:lnTo>
                    <a:pt x="485122" y="738544"/>
                  </a:lnTo>
                  <a:lnTo>
                    <a:pt x="540236" y="752306"/>
                  </a:lnTo>
                  <a:lnTo>
                    <a:pt x="597876" y="765501"/>
                  </a:lnTo>
                  <a:lnTo>
                    <a:pt x="657974" y="778106"/>
                  </a:lnTo>
                  <a:lnTo>
                    <a:pt x="720465" y="790098"/>
                  </a:lnTo>
                  <a:lnTo>
                    <a:pt x="785279" y="801455"/>
                  </a:lnTo>
                  <a:lnTo>
                    <a:pt x="852350" y="812153"/>
                  </a:lnTo>
                  <a:lnTo>
                    <a:pt x="921611" y="822170"/>
                  </a:lnTo>
                  <a:lnTo>
                    <a:pt x="992993" y="831482"/>
                  </a:lnTo>
                  <a:lnTo>
                    <a:pt x="1066431" y="840067"/>
                  </a:lnTo>
                  <a:lnTo>
                    <a:pt x="1141855" y="847902"/>
                  </a:lnTo>
                  <a:lnTo>
                    <a:pt x="1219200" y="854963"/>
                  </a:lnTo>
                  <a:lnTo>
                    <a:pt x="1219200" y="729233"/>
                  </a:lnTo>
                  <a:lnTo>
                    <a:pt x="1828800" y="1005839"/>
                  </a:lnTo>
                  <a:lnTo>
                    <a:pt x="1219200" y="1232154"/>
                  </a:lnTo>
                  <a:lnTo>
                    <a:pt x="1219200" y="1106424"/>
                  </a:lnTo>
                  <a:lnTo>
                    <a:pt x="1141855" y="1099362"/>
                  </a:lnTo>
                  <a:lnTo>
                    <a:pt x="1066431" y="1091527"/>
                  </a:lnTo>
                  <a:lnTo>
                    <a:pt x="992993" y="1082942"/>
                  </a:lnTo>
                  <a:lnTo>
                    <a:pt x="921611" y="1073630"/>
                  </a:lnTo>
                  <a:lnTo>
                    <a:pt x="852350" y="1063613"/>
                  </a:lnTo>
                  <a:lnTo>
                    <a:pt x="785279" y="1052915"/>
                  </a:lnTo>
                  <a:lnTo>
                    <a:pt x="720465" y="1041558"/>
                  </a:lnTo>
                  <a:lnTo>
                    <a:pt x="657974" y="1029566"/>
                  </a:lnTo>
                  <a:lnTo>
                    <a:pt x="597876" y="1016961"/>
                  </a:lnTo>
                  <a:lnTo>
                    <a:pt x="540236" y="1003766"/>
                  </a:lnTo>
                  <a:lnTo>
                    <a:pt x="485122" y="990004"/>
                  </a:lnTo>
                  <a:lnTo>
                    <a:pt x="432602" y="975698"/>
                  </a:lnTo>
                  <a:lnTo>
                    <a:pt x="382743" y="960871"/>
                  </a:lnTo>
                  <a:lnTo>
                    <a:pt x="335613" y="945546"/>
                  </a:lnTo>
                  <a:lnTo>
                    <a:pt x="291278" y="929746"/>
                  </a:lnTo>
                  <a:lnTo>
                    <a:pt x="249807" y="913493"/>
                  </a:lnTo>
                  <a:lnTo>
                    <a:pt x="211266" y="896811"/>
                  </a:lnTo>
                  <a:lnTo>
                    <a:pt x="175723" y="879722"/>
                  </a:lnTo>
                  <a:lnTo>
                    <a:pt x="113900" y="844417"/>
                  </a:lnTo>
                  <a:lnTo>
                    <a:pt x="64877" y="807760"/>
                  </a:lnTo>
                  <a:lnTo>
                    <a:pt x="29193" y="769935"/>
                  </a:lnTo>
                  <a:lnTo>
                    <a:pt x="7388" y="731125"/>
                  </a:lnTo>
                  <a:lnTo>
                    <a:pt x="0" y="691514"/>
                  </a:lnTo>
                  <a:lnTo>
                    <a:pt x="0" y="440055"/>
                  </a:lnTo>
                  <a:lnTo>
                    <a:pt x="12905" y="387495"/>
                  </a:lnTo>
                  <a:lnTo>
                    <a:pt x="35392" y="353454"/>
                  </a:lnTo>
                  <a:lnTo>
                    <a:pt x="68476" y="320333"/>
                  </a:lnTo>
                  <a:lnTo>
                    <a:pt x="111721" y="288239"/>
                  </a:lnTo>
                  <a:lnTo>
                    <a:pt x="164688" y="257275"/>
                  </a:lnTo>
                  <a:lnTo>
                    <a:pt x="226942" y="227548"/>
                  </a:lnTo>
                  <a:lnTo>
                    <a:pt x="298045" y="199162"/>
                  </a:lnTo>
                  <a:lnTo>
                    <a:pt x="336778" y="185504"/>
                  </a:lnTo>
                  <a:lnTo>
                    <a:pt x="377560" y="172222"/>
                  </a:lnTo>
                  <a:lnTo>
                    <a:pt x="420335" y="159327"/>
                  </a:lnTo>
                  <a:lnTo>
                    <a:pt x="465050" y="146833"/>
                  </a:lnTo>
                  <a:lnTo>
                    <a:pt x="511649" y="134753"/>
                  </a:lnTo>
                  <a:lnTo>
                    <a:pt x="560078" y="123101"/>
                  </a:lnTo>
                  <a:lnTo>
                    <a:pt x="610282" y="111889"/>
                  </a:lnTo>
                  <a:lnTo>
                    <a:pt x="662206" y="101130"/>
                  </a:lnTo>
                  <a:lnTo>
                    <a:pt x="715797" y="90838"/>
                  </a:lnTo>
                  <a:lnTo>
                    <a:pt x="770999" y="81026"/>
                  </a:lnTo>
                  <a:lnTo>
                    <a:pt x="827758" y="71707"/>
                  </a:lnTo>
                  <a:lnTo>
                    <a:pt x="886019" y="62894"/>
                  </a:lnTo>
                  <a:lnTo>
                    <a:pt x="945727" y="54599"/>
                  </a:lnTo>
                  <a:lnTo>
                    <a:pt x="1006828" y="46838"/>
                  </a:lnTo>
                  <a:lnTo>
                    <a:pt x="1069268" y="39622"/>
                  </a:lnTo>
                  <a:lnTo>
                    <a:pt x="1132991" y="32964"/>
                  </a:lnTo>
                  <a:lnTo>
                    <a:pt x="1197943" y="26878"/>
                  </a:lnTo>
                  <a:lnTo>
                    <a:pt x="1264069" y="21377"/>
                  </a:lnTo>
                  <a:lnTo>
                    <a:pt x="1331315" y="16474"/>
                  </a:lnTo>
                  <a:lnTo>
                    <a:pt x="1399626" y="12182"/>
                  </a:lnTo>
                  <a:lnTo>
                    <a:pt x="1468947" y="8514"/>
                  </a:lnTo>
                  <a:lnTo>
                    <a:pt x="1539225" y="5484"/>
                  </a:lnTo>
                  <a:lnTo>
                    <a:pt x="1610403" y="3104"/>
                  </a:lnTo>
                  <a:lnTo>
                    <a:pt x="1682428" y="1388"/>
                  </a:lnTo>
                  <a:lnTo>
                    <a:pt x="1755245" y="349"/>
                  </a:lnTo>
                  <a:lnTo>
                    <a:pt x="1828800" y="0"/>
                  </a:lnTo>
                  <a:lnTo>
                    <a:pt x="1828800" y="251460"/>
                  </a:lnTo>
                  <a:lnTo>
                    <a:pt x="1761635" y="251754"/>
                  </a:lnTo>
                  <a:lnTo>
                    <a:pt x="1694965" y="252632"/>
                  </a:lnTo>
                  <a:lnTo>
                    <a:pt x="1628839" y="254084"/>
                  </a:lnTo>
                  <a:lnTo>
                    <a:pt x="1563306" y="256101"/>
                  </a:lnTo>
                  <a:lnTo>
                    <a:pt x="1498415" y="258675"/>
                  </a:lnTo>
                  <a:lnTo>
                    <a:pt x="1434218" y="261796"/>
                  </a:lnTo>
                  <a:lnTo>
                    <a:pt x="1370762" y="265456"/>
                  </a:lnTo>
                  <a:lnTo>
                    <a:pt x="1308097" y="269645"/>
                  </a:lnTo>
                  <a:lnTo>
                    <a:pt x="1246274" y="274355"/>
                  </a:lnTo>
                  <a:lnTo>
                    <a:pt x="1185342" y="279577"/>
                  </a:lnTo>
                  <a:lnTo>
                    <a:pt x="1125350" y="285302"/>
                  </a:lnTo>
                  <a:lnTo>
                    <a:pt x="1066348" y="291521"/>
                  </a:lnTo>
                  <a:lnTo>
                    <a:pt x="1008385" y="298225"/>
                  </a:lnTo>
                  <a:lnTo>
                    <a:pt x="951512" y="305405"/>
                  </a:lnTo>
                  <a:lnTo>
                    <a:pt x="895777" y="313052"/>
                  </a:lnTo>
                  <a:lnTo>
                    <a:pt x="841231" y="321158"/>
                  </a:lnTo>
                  <a:lnTo>
                    <a:pt x="787922" y="329713"/>
                  </a:lnTo>
                  <a:lnTo>
                    <a:pt x="735901" y="338709"/>
                  </a:lnTo>
                  <a:lnTo>
                    <a:pt x="685217" y="348136"/>
                  </a:lnTo>
                  <a:lnTo>
                    <a:pt x="635919" y="357985"/>
                  </a:lnTo>
                  <a:lnTo>
                    <a:pt x="588058" y="368249"/>
                  </a:lnTo>
                  <a:lnTo>
                    <a:pt x="541682" y="378917"/>
                  </a:lnTo>
                  <a:lnTo>
                    <a:pt x="496842" y="389981"/>
                  </a:lnTo>
                  <a:lnTo>
                    <a:pt x="453587" y="401432"/>
                  </a:lnTo>
                  <a:lnTo>
                    <a:pt x="411966" y="413262"/>
                  </a:lnTo>
                  <a:lnTo>
                    <a:pt x="372030" y="425460"/>
                  </a:lnTo>
                  <a:lnTo>
                    <a:pt x="333827" y="438019"/>
                  </a:lnTo>
                  <a:lnTo>
                    <a:pt x="297407" y="450928"/>
                  </a:lnTo>
                  <a:lnTo>
                    <a:pt x="230116" y="477766"/>
                  </a:lnTo>
                  <a:lnTo>
                    <a:pt x="170554" y="505903"/>
                  </a:lnTo>
                  <a:lnTo>
                    <a:pt x="119116" y="535266"/>
                  </a:lnTo>
                  <a:lnTo>
                    <a:pt x="96568" y="550385"/>
                  </a:lnTo>
                  <a:lnTo>
                    <a:pt x="76200" y="565785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85688" y="2611755"/>
              <a:ext cx="1656714" cy="792480"/>
            </a:xfrm>
            <a:custGeom>
              <a:avLst/>
              <a:gdLst/>
              <a:ahLst/>
              <a:cxnLst/>
              <a:rect l="l" t="t" r="r" b="b"/>
              <a:pathLst>
                <a:path w="1656715" h="792479">
                  <a:moveTo>
                    <a:pt x="1656588" y="0"/>
                  </a:moveTo>
                  <a:lnTo>
                    <a:pt x="1648837" y="42627"/>
                  </a:lnTo>
                  <a:lnTo>
                    <a:pt x="1625990" y="84308"/>
                  </a:lnTo>
                  <a:lnTo>
                    <a:pt x="1588657" y="124814"/>
                  </a:lnTo>
                  <a:lnTo>
                    <a:pt x="1537445" y="163917"/>
                  </a:lnTo>
                  <a:lnTo>
                    <a:pt x="1472964" y="201388"/>
                  </a:lnTo>
                  <a:lnTo>
                    <a:pt x="1435937" y="219439"/>
                  </a:lnTo>
                  <a:lnTo>
                    <a:pt x="1395821" y="236996"/>
                  </a:lnTo>
                  <a:lnTo>
                    <a:pt x="1352692" y="254031"/>
                  </a:lnTo>
                  <a:lnTo>
                    <a:pt x="1306627" y="270515"/>
                  </a:lnTo>
                  <a:lnTo>
                    <a:pt x="1257700" y="286419"/>
                  </a:lnTo>
                  <a:lnTo>
                    <a:pt x="1205988" y="301714"/>
                  </a:lnTo>
                  <a:lnTo>
                    <a:pt x="1151568" y="316372"/>
                  </a:lnTo>
                  <a:lnTo>
                    <a:pt x="1094516" y="330365"/>
                  </a:lnTo>
                  <a:lnTo>
                    <a:pt x="1034906" y="343663"/>
                  </a:lnTo>
                  <a:lnTo>
                    <a:pt x="972816" y="356239"/>
                  </a:lnTo>
                  <a:lnTo>
                    <a:pt x="908322" y="368063"/>
                  </a:lnTo>
                  <a:lnTo>
                    <a:pt x="841500" y="379107"/>
                  </a:lnTo>
                  <a:lnTo>
                    <a:pt x="772425" y="389342"/>
                  </a:lnTo>
                  <a:lnTo>
                    <a:pt x="701175" y="398739"/>
                  </a:lnTo>
                  <a:lnTo>
                    <a:pt x="627824" y="407271"/>
                  </a:lnTo>
                  <a:lnTo>
                    <a:pt x="552450" y="414908"/>
                  </a:lnTo>
                  <a:lnTo>
                    <a:pt x="552450" y="289178"/>
                  </a:lnTo>
                  <a:lnTo>
                    <a:pt x="0" y="565784"/>
                  </a:lnTo>
                  <a:lnTo>
                    <a:pt x="552450" y="792099"/>
                  </a:lnTo>
                  <a:lnTo>
                    <a:pt x="552450" y="666369"/>
                  </a:lnTo>
                  <a:lnTo>
                    <a:pt x="627824" y="658731"/>
                  </a:lnTo>
                  <a:lnTo>
                    <a:pt x="701175" y="650199"/>
                  </a:lnTo>
                  <a:lnTo>
                    <a:pt x="772425" y="640802"/>
                  </a:lnTo>
                  <a:lnTo>
                    <a:pt x="841500" y="630567"/>
                  </a:lnTo>
                  <a:lnTo>
                    <a:pt x="908322" y="619523"/>
                  </a:lnTo>
                  <a:lnTo>
                    <a:pt x="972816" y="607699"/>
                  </a:lnTo>
                  <a:lnTo>
                    <a:pt x="1034906" y="595123"/>
                  </a:lnTo>
                  <a:lnTo>
                    <a:pt x="1094516" y="581825"/>
                  </a:lnTo>
                  <a:lnTo>
                    <a:pt x="1151568" y="567832"/>
                  </a:lnTo>
                  <a:lnTo>
                    <a:pt x="1205988" y="553174"/>
                  </a:lnTo>
                  <a:lnTo>
                    <a:pt x="1257700" y="537879"/>
                  </a:lnTo>
                  <a:lnTo>
                    <a:pt x="1306627" y="521975"/>
                  </a:lnTo>
                  <a:lnTo>
                    <a:pt x="1352692" y="505491"/>
                  </a:lnTo>
                  <a:lnTo>
                    <a:pt x="1395821" y="488456"/>
                  </a:lnTo>
                  <a:lnTo>
                    <a:pt x="1435937" y="470899"/>
                  </a:lnTo>
                  <a:lnTo>
                    <a:pt x="1472964" y="452848"/>
                  </a:lnTo>
                  <a:lnTo>
                    <a:pt x="1506825" y="434331"/>
                  </a:lnTo>
                  <a:lnTo>
                    <a:pt x="1564748" y="396016"/>
                  </a:lnTo>
                  <a:lnTo>
                    <a:pt x="1609096" y="356182"/>
                  </a:lnTo>
                  <a:lnTo>
                    <a:pt x="1639262" y="315060"/>
                  </a:lnTo>
                  <a:lnTo>
                    <a:pt x="1654637" y="272877"/>
                  </a:lnTo>
                  <a:lnTo>
                    <a:pt x="1656588" y="251459"/>
                  </a:lnTo>
                  <a:lnTo>
                    <a:pt x="165658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85688" y="2171700"/>
              <a:ext cx="1657350" cy="565785"/>
            </a:xfrm>
            <a:custGeom>
              <a:avLst/>
              <a:gdLst/>
              <a:ahLst/>
              <a:cxnLst/>
              <a:rect l="l" t="t" r="r" b="b"/>
              <a:pathLst>
                <a:path w="1657350" h="565785">
                  <a:moveTo>
                    <a:pt x="0" y="0"/>
                  </a:moveTo>
                  <a:lnTo>
                    <a:pt x="0" y="251460"/>
                  </a:lnTo>
                  <a:lnTo>
                    <a:pt x="66356" y="251810"/>
                  </a:lnTo>
                  <a:lnTo>
                    <a:pt x="132173" y="252853"/>
                  </a:lnTo>
                  <a:lnTo>
                    <a:pt x="197394" y="254578"/>
                  </a:lnTo>
                  <a:lnTo>
                    <a:pt x="261961" y="256973"/>
                  </a:lnTo>
                  <a:lnTo>
                    <a:pt x="325814" y="260026"/>
                  </a:lnTo>
                  <a:lnTo>
                    <a:pt x="388895" y="263726"/>
                  </a:lnTo>
                  <a:lnTo>
                    <a:pt x="451147" y="268061"/>
                  </a:lnTo>
                  <a:lnTo>
                    <a:pt x="512511" y="273019"/>
                  </a:lnTo>
                  <a:lnTo>
                    <a:pt x="572928" y="278590"/>
                  </a:lnTo>
                  <a:lnTo>
                    <a:pt x="632341" y="284761"/>
                  </a:lnTo>
                  <a:lnTo>
                    <a:pt x="690691" y="291521"/>
                  </a:lnTo>
                  <a:lnTo>
                    <a:pt x="747920" y="298858"/>
                  </a:lnTo>
                  <a:lnTo>
                    <a:pt x="803969" y="306761"/>
                  </a:lnTo>
                  <a:lnTo>
                    <a:pt x="858781" y="315218"/>
                  </a:lnTo>
                  <a:lnTo>
                    <a:pt x="912297" y="324217"/>
                  </a:lnTo>
                  <a:lnTo>
                    <a:pt x="964458" y="333748"/>
                  </a:lnTo>
                  <a:lnTo>
                    <a:pt x="1015206" y="343798"/>
                  </a:lnTo>
                  <a:lnTo>
                    <a:pt x="1064484" y="354355"/>
                  </a:lnTo>
                  <a:lnTo>
                    <a:pt x="1112232" y="365409"/>
                  </a:lnTo>
                  <a:lnTo>
                    <a:pt x="1158393" y="376948"/>
                  </a:lnTo>
                  <a:lnTo>
                    <a:pt x="1202908" y="388959"/>
                  </a:lnTo>
                  <a:lnTo>
                    <a:pt x="1245719" y="401432"/>
                  </a:lnTo>
                  <a:lnTo>
                    <a:pt x="1286768" y="414355"/>
                  </a:lnTo>
                  <a:lnTo>
                    <a:pt x="1325996" y="427717"/>
                  </a:lnTo>
                  <a:lnTo>
                    <a:pt x="1363345" y="441505"/>
                  </a:lnTo>
                  <a:lnTo>
                    <a:pt x="1398756" y="455708"/>
                  </a:lnTo>
                  <a:lnTo>
                    <a:pt x="1463535" y="485314"/>
                  </a:lnTo>
                  <a:lnTo>
                    <a:pt x="1519865" y="516442"/>
                  </a:lnTo>
                  <a:lnTo>
                    <a:pt x="1567281" y="548999"/>
                  </a:lnTo>
                  <a:lnTo>
                    <a:pt x="1587500" y="565785"/>
                  </a:lnTo>
                  <a:lnTo>
                    <a:pt x="1608060" y="545795"/>
                  </a:lnTo>
                  <a:lnTo>
                    <a:pt x="1638223" y="505741"/>
                  </a:lnTo>
                  <a:lnTo>
                    <a:pt x="1654131" y="465764"/>
                  </a:lnTo>
                  <a:lnTo>
                    <a:pt x="1656873" y="445869"/>
                  </a:lnTo>
                  <a:lnTo>
                    <a:pt x="1656213" y="426073"/>
                  </a:lnTo>
                  <a:lnTo>
                    <a:pt x="1644896" y="386880"/>
                  </a:lnTo>
                  <a:lnTo>
                    <a:pt x="1620609" y="348394"/>
                  </a:lnTo>
                  <a:lnTo>
                    <a:pt x="1583781" y="310826"/>
                  </a:lnTo>
                  <a:lnTo>
                    <a:pt x="1534838" y="274386"/>
                  </a:lnTo>
                  <a:lnTo>
                    <a:pt x="1474210" y="239284"/>
                  </a:lnTo>
                  <a:lnTo>
                    <a:pt x="1439647" y="222301"/>
                  </a:lnTo>
                  <a:lnTo>
                    <a:pt x="1402324" y="205731"/>
                  </a:lnTo>
                  <a:lnTo>
                    <a:pt x="1362293" y="189601"/>
                  </a:lnTo>
                  <a:lnTo>
                    <a:pt x="1319608" y="173937"/>
                  </a:lnTo>
                  <a:lnTo>
                    <a:pt x="1274323" y="158765"/>
                  </a:lnTo>
                  <a:lnTo>
                    <a:pt x="1226490" y="144111"/>
                  </a:lnTo>
                  <a:lnTo>
                    <a:pt x="1176165" y="130003"/>
                  </a:lnTo>
                  <a:lnTo>
                    <a:pt x="1123400" y="116466"/>
                  </a:lnTo>
                  <a:lnTo>
                    <a:pt x="1068248" y="103526"/>
                  </a:lnTo>
                  <a:lnTo>
                    <a:pt x="1010764" y="91209"/>
                  </a:lnTo>
                  <a:lnTo>
                    <a:pt x="951000" y="79543"/>
                  </a:lnTo>
                  <a:lnTo>
                    <a:pt x="889010" y="68553"/>
                  </a:lnTo>
                  <a:lnTo>
                    <a:pt x="824849" y="58266"/>
                  </a:lnTo>
                  <a:lnTo>
                    <a:pt x="758568" y="48707"/>
                  </a:lnTo>
                  <a:lnTo>
                    <a:pt x="690222" y="39904"/>
                  </a:lnTo>
                  <a:lnTo>
                    <a:pt x="619865" y="31882"/>
                  </a:lnTo>
                  <a:lnTo>
                    <a:pt x="547549" y="24668"/>
                  </a:lnTo>
                  <a:lnTo>
                    <a:pt x="473328" y="18287"/>
                  </a:lnTo>
                  <a:lnTo>
                    <a:pt x="421900" y="14483"/>
                  </a:lnTo>
                  <a:lnTo>
                    <a:pt x="370088" y="11114"/>
                  </a:lnTo>
                  <a:lnTo>
                    <a:pt x="317932" y="8184"/>
                  </a:lnTo>
                  <a:lnTo>
                    <a:pt x="265472" y="5696"/>
                  </a:lnTo>
                  <a:lnTo>
                    <a:pt x="212748" y="3654"/>
                  </a:lnTo>
                  <a:lnTo>
                    <a:pt x="159798" y="2060"/>
                  </a:lnTo>
                  <a:lnTo>
                    <a:pt x="106664" y="917"/>
                  </a:lnTo>
                  <a:lnTo>
                    <a:pt x="53385" y="2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68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85688" y="2171700"/>
              <a:ext cx="1656714" cy="1232535"/>
            </a:xfrm>
            <a:custGeom>
              <a:avLst/>
              <a:gdLst/>
              <a:ahLst/>
              <a:cxnLst/>
              <a:rect l="l" t="t" r="r" b="b"/>
              <a:pathLst>
                <a:path w="1656715" h="1232535">
                  <a:moveTo>
                    <a:pt x="1656588" y="440055"/>
                  </a:moveTo>
                  <a:lnTo>
                    <a:pt x="1648837" y="482682"/>
                  </a:lnTo>
                  <a:lnTo>
                    <a:pt x="1625990" y="524363"/>
                  </a:lnTo>
                  <a:lnTo>
                    <a:pt x="1588657" y="564869"/>
                  </a:lnTo>
                  <a:lnTo>
                    <a:pt x="1537445" y="603972"/>
                  </a:lnTo>
                  <a:lnTo>
                    <a:pt x="1472964" y="641443"/>
                  </a:lnTo>
                  <a:lnTo>
                    <a:pt x="1435937" y="659494"/>
                  </a:lnTo>
                  <a:lnTo>
                    <a:pt x="1395821" y="677051"/>
                  </a:lnTo>
                  <a:lnTo>
                    <a:pt x="1352692" y="694086"/>
                  </a:lnTo>
                  <a:lnTo>
                    <a:pt x="1306627" y="710570"/>
                  </a:lnTo>
                  <a:lnTo>
                    <a:pt x="1257700" y="726474"/>
                  </a:lnTo>
                  <a:lnTo>
                    <a:pt x="1205988" y="741769"/>
                  </a:lnTo>
                  <a:lnTo>
                    <a:pt x="1151568" y="756427"/>
                  </a:lnTo>
                  <a:lnTo>
                    <a:pt x="1094516" y="770420"/>
                  </a:lnTo>
                  <a:lnTo>
                    <a:pt x="1034906" y="783718"/>
                  </a:lnTo>
                  <a:lnTo>
                    <a:pt x="972816" y="796294"/>
                  </a:lnTo>
                  <a:lnTo>
                    <a:pt x="908322" y="808118"/>
                  </a:lnTo>
                  <a:lnTo>
                    <a:pt x="841500" y="819162"/>
                  </a:lnTo>
                  <a:lnTo>
                    <a:pt x="772425" y="829397"/>
                  </a:lnTo>
                  <a:lnTo>
                    <a:pt x="701175" y="838794"/>
                  </a:lnTo>
                  <a:lnTo>
                    <a:pt x="627824" y="847326"/>
                  </a:lnTo>
                  <a:lnTo>
                    <a:pt x="552450" y="854963"/>
                  </a:lnTo>
                  <a:lnTo>
                    <a:pt x="552450" y="729233"/>
                  </a:lnTo>
                  <a:lnTo>
                    <a:pt x="0" y="1005839"/>
                  </a:lnTo>
                  <a:lnTo>
                    <a:pt x="552450" y="1232154"/>
                  </a:lnTo>
                  <a:lnTo>
                    <a:pt x="552450" y="1106424"/>
                  </a:lnTo>
                  <a:lnTo>
                    <a:pt x="627824" y="1098786"/>
                  </a:lnTo>
                  <a:lnTo>
                    <a:pt x="701175" y="1090254"/>
                  </a:lnTo>
                  <a:lnTo>
                    <a:pt x="772425" y="1080857"/>
                  </a:lnTo>
                  <a:lnTo>
                    <a:pt x="841500" y="1070622"/>
                  </a:lnTo>
                  <a:lnTo>
                    <a:pt x="908322" y="1059578"/>
                  </a:lnTo>
                  <a:lnTo>
                    <a:pt x="972816" y="1047754"/>
                  </a:lnTo>
                  <a:lnTo>
                    <a:pt x="1034906" y="1035178"/>
                  </a:lnTo>
                  <a:lnTo>
                    <a:pt x="1094516" y="1021880"/>
                  </a:lnTo>
                  <a:lnTo>
                    <a:pt x="1151568" y="1007887"/>
                  </a:lnTo>
                  <a:lnTo>
                    <a:pt x="1205988" y="993229"/>
                  </a:lnTo>
                  <a:lnTo>
                    <a:pt x="1257700" y="977934"/>
                  </a:lnTo>
                  <a:lnTo>
                    <a:pt x="1306627" y="962030"/>
                  </a:lnTo>
                  <a:lnTo>
                    <a:pt x="1352692" y="945546"/>
                  </a:lnTo>
                  <a:lnTo>
                    <a:pt x="1395821" y="928511"/>
                  </a:lnTo>
                  <a:lnTo>
                    <a:pt x="1435937" y="910954"/>
                  </a:lnTo>
                  <a:lnTo>
                    <a:pt x="1472964" y="892903"/>
                  </a:lnTo>
                  <a:lnTo>
                    <a:pt x="1506825" y="874386"/>
                  </a:lnTo>
                  <a:lnTo>
                    <a:pt x="1564748" y="836071"/>
                  </a:lnTo>
                  <a:lnTo>
                    <a:pt x="1609096" y="796237"/>
                  </a:lnTo>
                  <a:lnTo>
                    <a:pt x="1639262" y="755115"/>
                  </a:lnTo>
                  <a:lnTo>
                    <a:pt x="1654637" y="712932"/>
                  </a:lnTo>
                  <a:lnTo>
                    <a:pt x="1656588" y="691514"/>
                  </a:lnTo>
                  <a:lnTo>
                    <a:pt x="1656588" y="440055"/>
                  </a:lnTo>
                  <a:lnTo>
                    <a:pt x="1650507" y="402079"/>
                  </a:lnTo>
                  <a:lnTo>
                    <a:pt x="1632596" y="365001"/>
                  </a:lnTo>
                  <a:lnTo>
                    <a:pt x="1603353" y="328954"/>
                  </a:lnTo>
                  <a:lnTo>
                    <a:pt x="1563275" y="294069"/>
                  </a:lnTo>
                  <a:lnTo>
                    <a:pt x="1512858" y="260478"/>
                  </a:lnTo>
                  <a:lnTo>
                    <a:pt x="1452601" y="228313"/>
                  </a:lnTo>
                  <a:lnTo>
                    <a:pt x="1383001" y="197707"/>
                  </a:lnTo>
                  <a:lnTo>
                    <a:pt x="1344852" y="183029"/>
                  </a:lnTo>
                  <a:lnTo>
                    <a:pt x="1304553" y="168790"/>
                  </a:lnTo>
                  <a:lnTo>
                    <a:pt x="1262168" y="155007"/>
                  </a:lnTo>
                  <a:lnTo>
                    <a:pt x="1217757" y="141696"/>
                  </a:lnTo>
                  <a:lnTo>
                    <a:pt x="1171384" y="128873"/>
                  </a:lnTo>
                  <a:lnTo>
                    <a:pt x="1123110" y="116555"/>
                  </a:lnTo>
                  <a:lnTo>
                    <a:pt x="1072997" y="104759"/>
                  </a:lnTo>
                  <a:lnTo>
                    <a:pt x="1021107" y="93501"/>
                  </a:lnTo>
                  <a:lnTo>
                    <a:pt x="967504" y="82797"/>
                  </a:lnTo>
                  <a:lnTo>
                    <a:pt x="912248" y="72664"/>
                  </a:lnTo>
                  <a:lnTo>
                    <a:pt x="855402" y="63119"/>
                  </a:lnTo>
                  <a:lnTo>
                    <a:pt x="797029" y="54178"/>
                  </a:lnTo>
                  <a:lnTo>
                    <a:pt x="737189" y="45857"/>
                  </a:lnTo>
                  <a:lnTo>
                    <a:pt x="675946" y="38173"/>
                  </a:lnTo>
                  <a:lnTo>
                    <a:pt x="613362" y="31143"/>
                  </a:lnTo>
                  <a:lnTo>
                    <a:pt x="549499" y="24783"/>
                  </a:lnTo>
                  <a:lnTo>
                    <a:pt x="484419" y="19109"/>
                  </a:lnTo>
                  <a:lnTo>
                    <a:pt x="418183" y="14138"/>
                  </a:lnTo>
                  <a:lnTo>
                    <a:pt x="350855" y="9887"/>
                  </a:lnTo>
                  <a:lnTo>
                    <a:pt x="282497" y="6371"/>
                  </a:lnTo>
                  <a:lnTo>
                    <a:pt x="213169" y="3608"/>
                  </a:lnTo>
                  <a:lnTo>
                    <a:pt x="142936" y="1614"/>
                  </a:lnTo>
                  <a:lnTo>
                    <a:pt x="71859" y="406"/>
                  </a:lnTo>
                  <a:lnTo>
                    <a:pt x="0" y="0"/>
                  </a:lnTo>
                  <a:lnTo>
                    <a:pt x="0" y="251460"/>
                  </a:lnTo>
                  <a:lnTo>
                    <a:pt x="66356" y="251810"/>
                  </a:lnTo>
                  <a:lnTo>
                    <a:pt x="132173" y="252853"/>
                  </a:lnTo>
                  <a:lnTo>
                    <a:pt x="197394" y="254578"/>
                  </a:lnTo>
                  <a:lnTo>
                    <a:pt x="261961" y="256973"/>
                  </a:lnTo>
                  <a:lnTo>
                    <a:pt x="325814" y="260026"/>
                  </a:lnTo>
                  <a:lnTo>
                    <a:pt x="388895" y="263726"/>
                  </a:lnTo>
                  <a:lnTo>
                    <a:pt x="451147" y="268061"/>
                  </a:lnTo>
                  <a:lnTo>
                    <a:pt x="512511" y="273019"/>
                  </a:lnTo>
                  <a:lnTo>
                    <a:pt x="572928" y="278590"/>
                  </a:lnTo>
                  <a:lnTo>
                    <a:pt x="632341" y="284761"/>
                  </a:lnTo>
                  <a:lnTo>
                    <a:pt x="690691" y="291521"/>
                  </a:lnTo>
                  <a:lnTo>
                    <a:pt x="747920" y="298858"/>
                  </a:lnTo>
                  <a:lnTo>
                    <a:pt x="803969" y="306761"/>
                  </a:lnTo>
                  <a:lnTo>
                    <a:pt x="858781" y="315218"/>
                  </a:lnTo>
                  <a:lnTo>
                    <a:pt x="912297" y="324217"/>
                  </a:lnTo>
                  <a:lnTo>
                    <a:pt x="964458" y="333748"/>
                  </a:lnTo>
                  <a:lnTo>
                    <a:pt x="1015206" y="343798"/>
                  </a:lnTo>
                  <a:lnTo>
                    <a:pt x="1064484" y="354355"/>
                  </a:lnTo>
                  <a:lnTo>
                    <a:pt x="1112232" y="365409"/>
                  </a:lnTo>
                  <a:lnTo>
                    <a:pt x="1158393" y="376948"/>
                  </a:lnTo>
                  <a:lnTo>
                    <a:pt x="1202908" y="388959"/>
                  </a:lnTo>
                  <a:lnTo>
                    <a:pt x="1245719" y="401432"/>
                  </a:lnTo>
                  <a:lnTo>
                    <a:pt x="1286768" y="414355"/>
                  </a:lnTo>
                  <a:lnTo>
                    <a:pt x="1325996" y="427717"/>
                  </a:lnTo>
                  <a:lnTo>
                    <a:pt x="1363345" y="441505"/>
                  </a:lnTo>
                  <a:lnTo>
                    <a:pt x="1398756" y="455708"/>
                  </a:lnTo>
                  <a:lnTo>
                    <a:pt x="1463535" y="485314"/>
                  </a:lnTo>
                  <a:lnTo>
                    <a:pt x="1519865" y="516442"/>
                  </a:lnTo>
                  <a:lnTo>
                    <a:pt x="1567281" y="548999"/>
                  </a:lnTo>
                  <a:lnTo>
                    <a:pt x="1587500" y="565785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96768" y="2182380"/>
              <a:ext cx="2990850" cy="49757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98519" y="2113788"/>
              <a:ext cx="2411729" cy="75971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28187" y="2113788"/>
              <a:ext cx="2978150" cy="485140"/>
            </a:xfrm>
            <a:custGeom>
              <a:avLst/>
              <a:gdLst/>
              <a:ahLst/>
              <a:cxnLst/>
              <a:rect l="l" t="t" r="r" b="b"/>
              <a:pathLst>
                <a:path w="2978150" h="485139">
                  <a:moveTo>
                    <a:pt x="0" y="484631"/>
                  </a:moveTo>
                  <a:lnTo>
                    <a:pt x="2977895" y="484631"/>
                  </a:lnTo>
                  <a:lnTo>
                    <a:pt x="2977895" y="0"/>
                  </a:lnTo>
                  <a:lnTo>
                    <a:pt x="0" y="0"/>
                  </a:lnTo>
                  <a:lnTo>
                    <a:pt x="0" y="484631"/>
                  </a:lnTo>
                  <a:close/>
                </a:path>
              </a:pathLst>
            </a:custGeom>
            <a:ln w="12192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22319" y="2037588"/>
              <a:ext cx="2411729" cy="75971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21201" y="2137600"/>
            <a:ext cx="198564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10" dirty="0">
                <a:latin typeface="Carlito"/>
                <a:cs typeface="Carlito"/>
              </a:rPr>
              <a:t>Metodologías</a:t>
            </a:r>
            <a:endParaRPr sz="2700" dirty="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65475" y="3055366"/>
            <a:ext cx="3155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99085" algn="l"/>
              </a:tabLst>
            </a:pPr>
            <a:r>
              <a:rPr sz="1800" spc="-5" dirty="0">
                <a:latin typeface="Times New Roman"/>
                <a:cs typeface="Times New Roman"/>
              </a:rPr>
              <a:t>ESTRUCTURADA.</a:t>
            </a:r>
            <a:endParaRPr sz="1800">
              <a:latin typeface="Times New Roman"/>
              <a:cs typeface="Times New Roman"/>
            </a:endParaRPr>
          </a:p>
          <a:p>
            <a:pPr marL="583565" indent="-228600">
              <a:lnSpc>
                <a:spcPct val="100000"/>
              </a:lnSpc>
              <a:buAutoNum type="arabicPeriod"/>
              <a:tabLst>
                <a:tab pos="584200" algn="l"/>
              </a:tabLst>
            </a:pPr>
            <a:r>
              <a:rPr sz="1800" spc="-20" dirty="0">
                <a:latin typeface="Times New Roman"/>
                <a:cs typeface="Times New Roman"/>
              </a:rPr>
              <a:t>ORIENTADO </a:t>
            </a:r>
            <a:r>
              <a:rPr sz="1800" spc="-5" dirty="0">
                <a:latin typeface="Times New Roman"/>
                <a:cs typeface="Times New Roman"/>
              </a:rPr>
              <a:t>AL</a:t>
            </a:r>
            <a:r>
              <a:rPr sz="1800" spc="-1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OBJETO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3814" y="527430"/>
            <a:ext cx="48983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21765" algn="l"/>
                <a:tab pos="4498340" algn="l"/>
              </a:tabLst>
            </a:pPr>
            <a:r>
              <a:rPr sz="2100" dirty="0">
                <a:solidFill>
                  <a:srgbClr val="1F487C"/>
                </a:solidFill>
                <a:latin typeface="Times New Roman"/>
                <a:cs typeface="Times New Roman"/>
              </a:rPr>
              <a:t>EL</a:t>
            </a:r>
            <a:r>
              <a:rPr sz="2100" spc="-12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100" spc="-5" dirty="0">
                <a:solidFill>
                  <a:srgbClr val="1F487C"/>
                </a:solidFill>
                <a:latin typeface="Times New Roman"/>
                <a:cs typeface="Times New Roman"/>
              </a:rPr>
              <a:t>CI</a:t>
            </a:r>
            <a:r>
              <a:rPr sz="2100" spc="-15" dirty="0">
                <a:solidFill>
                  <a:srgbClr val="1F487C"/>
                </a:solidFill>
                <a:latin typeface="Times New Roman"/>
                <a:cs typeface="Times New Roman"/>
              </a:rPr>
              <a:t>C</a:t>
            </a:r>
            <a:r>
              <a:rPr sz="2100" dirty="0">
                <a:solidFill>
                  <a:srgbClr val="1F487C"/>
                </a:solidFill>
                <a:latin typeface="Times New Roman"/>
                <a:cs typeface="Times New Roman"/>
              </a:rPr>
              <a:t>LO	</a:t>
            </a:r>
            <a:r>
              <a:rPr sz="2100" spc="-5" dirty="0">
                <a:solidFill>
                  <a:srgbClr val="1F487C"/>
                </a:solidFill>
                <a:latin typeface="Times New Roman"/>
                <a:cs typeface="Times New Roman"/>
              </a:rPr>
              <a:t>TRA</a:t>
            </a:r>
            <a:r>
              <a:rPr sz="2100" spc="-15" dirty="0">
                <a:solidFill>
                  <a:srgbClr val="1F487C"/>
                </a:solidFill>
                <a:latin typeface="Times New Roman"/>
                <a:cs typeface="Times New Roman"/>
              </a:rPr>
              <a:t>D</a:t>
            </a:r>
            <a:r>
              <a:rPr sz="2100" spc="-5" dirty="0">
                <a:solidFill>
                  <a:srgbClr val="1F487C"/>
                </a:solidFill>
                <a:latin typeface="Times New Roman"/>
                <a:cs typeface="Times New Roman"/>
              </a:rPr>
              <a:t>ICI</a:t>
            </a:r>
            <a:r>
              <a:rPr sz="2100" spc="-15" dirty="0">
                <a:solidFill>
                  <a:srgbClr val="1F487C"/>
                </a:solidFill>
                <a:latin typeface="Times New Roman"/>
                <a:cs typeface="Times New Roman"/>
              </a:rPr>
              <a:t>O</a:t>
            </a:r>
            <a:r>
              <a:rPr sz="2100" spc="-5" dirty="0">
                <a:solidFill>
                  <a:srgbClr val="1F487C"/>
                </a:solidFill>
                <a:latin typeface="Times New Roman"/>
                <a:cs typeface="Times New Roman"/>
              </a:rPr>
              <a:t>N</a:t>
            </a:r>
            <a:r>
              <a:rPr sz="2100" spc="-15" dirty="0">
                <a:solidFill>
                  <a:srgbClr val="1F487C"/>
                </a:solidFill>
                <a:latin typeface="Times New Roman"/>
                <a:cs typeface="Times New Roman"/>
              </a:rPr>
              <a:t>A</a:t>
            </a:r>
            <a:r>
              <a:rPr sz="2100" dirty="0">
                <a:solidFill>
                  <a:srgbClr val="1F487C"/>
                </a:solidFill>
                <a:latin typeface="Times New Roman"/>
                <a:cs typeface="Times New Roman"/>
              </a:rPr>
              <a:t>L</a:t>
            </a:r>
            <a:r>
              <a:rPr sz="2100" spc="-13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100" spc="-5" dirty="0">
                <a:solidFill>
                  <a:srgbClr val="1F487C"/>
                </a:solidFill>
                <a:latin typeface="Times New Roman"/>
                <a:cs typeface="Times New Roman"/>
              </a:rPr>
              <a:t>DE</a:t>
            </a:r>
            <a:r>
              <a:rPr sz="2100" dirty="0">
                <a:solidFill>
                  <a:srgbClr val="1F487C"/>
                </a:solidFill>
                <a:latin typeface="Times New Roman"/>
                <a:cs typeface="Times New Roman"/>
              </a:rPr>
              <a:t> LOS	</a:t>
            </a:r>
            <a:r>
              <a:rPr sz="2100" spc="-5" dirty="0">
                <a:solidFill>
                  <a:srgbClr val="1F487C"/>
                </a:solidFill>
                <a:latin typeface="Times New Roman"/>
                <a:cs typeface="Times New Roman"/>
              </a:rPr>
              <a:t>S.</a:t>
            </a:r>
            <a:r>
              <a:rPr sz="2100" dirty="0">
                <a:solidFill>
                  <a:srgbClr val="1F487C"/>
                </a:solidFill>
                <a:latin typeface="Times New Roman"/>
                <a:cs typeface="Times New Roman"/>
              </a:rPr>
              <a:t>I</a:t>
            </a:r>
            <a:r>
              <a:rPr sz="2100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7244" y="1620138"/>
            <a:ext cx="4346575" cy="3472179"/>
            <a:chOff x="1317244" y="1620138"/>
            <a:chExt cx="4346575" cy="3472179"/>
          </a:xfrm>
        </p:grpSpPr>
        <p:sp>
          <p:nvSpPr>
            <p:cNvPr id="4" name="object 4"/>
            <p:cNvSpPr/>
            <p:nvPr/>
          </p:nvSpPr>
          <p:spPr>
            <a:xfrm>
              <a:off x="1984248" y="2172969"/>
              <a:ext cx="3673475" cy="2913380"/>
            </a:xfrm>
            <a:custGeom>
              <a:avLst/>
              <a:gdLst/>
              <a:ahLst/>
              <a:cxnLst/>
              <a:rect l="l" t="t" r="r" b="b"/>
              <a:pathLst>
                <a:path w="3673475" h="2913379">
                  <a:moveTo>
                    <a:pt x="3673221" y="0"/>
                  </a:moveTo>
                  <a:lnTo>
                    <a:pt x="2938780" y="0"/>
                  </a:lnTo>
                  <a:lnTo>
                    <a:pt x="2938780" y="256540"/>
                  </a:lnTo>
                  <a:lnTo>
                    <a:pt x="2644775" y="256540"/>
                  </a:lnTo>
                  <a:lnTo>
                    <a:pt x="2644775" y="514350"/>
                  </a:lnTo>
                  <a:lnTo>
                    <a:pt x="2350770" y="514350"/>
                  </a:lnTo>
                  <a:lnTo>
                    <a:pt x="2350770" y="772160"/>
                  </a:lnTo>
                  <a:lnTo>
                    <a:pt x="2055622" y="772160"/>
                  </a:lnTo>
                  <a:lnTo>
                    <a:pt x="2055622" y="1028700"/>
                  </a:lnTo>
                  <a:lnTo>
                    <a:pt x="1762760" y="1028700"/>
                  </a:lnTo>
                  <a:lnTo>
                    <a:pt x="1762760" y="1285240"/>
                  </a:lnTo>
                  <a:lnTo>
                    <a:pt x="1470025" y="1285240"/>
                  </a:lnTo>
                  <a:lnTo>
                    <a:pt x="1470025" y="1541780"/>
                  </a:lnTo>
                  <a:lnTo>
                    <a:pt x="1177163" y="1541780"/>
                  </a:lnTo>
                  <a:lnTo>
                    <a:pt x="1177163" y="1797050"/>
                  </a:lnTo>
                  <a:lnTo>
                    <a:pt x="882015" y="1797050"/>
                  </a:lnTo>
                  <a:lnTo>
                    <a:pt x="882015" y="2056130"/>
                  </a:lnTo>
                  <a:lnTo>
                    <a:pt x="588010" y="2056130"/>
                  </a:lnTo>
                  <a:lnTo>
                    <a:pt x="588010" y="2312670"/>
                  </a:lnTo>
                  <a:lnTo>
                    <a:pt x="294005" y="2312670"/>
                  </a:lnTo>
                  <a:lnTo>
                    <a:pt x="294005" y="2570480"/>
                  </a:lnTo>
                  <a:lnTo>
                    <a:pt x="0" y="2570480"/>
                  </a:lnTo>
                  <a:lnTo>
                    <a:pt x="0" y="2913380"/>
                  </a:lnTo>
                  <a:lnTo>
                    <a:pt x="3673221" y="2913380"/>
                  </a:lnTo>
                  <a:lnTo>
                    <a:pt x="3673221" y="2570480"/>
                  </a:lnTo>
                  <a:lnTo>
                    <a:pt x="3673221" y="2312670"/>
                  </a:lnTo>
                  <a:lnTo>
                    <a:pt x="3673221" y="256540"/>
                  </a:lnTo>
                  <a:lnTo>
                    <a:pt x="3673221" y="0"/>
                  </a:lnTo>
                  <a:close/>
                </a:path>
              </a:pathLst>
            </a:custGeom>
            <a:solidFill>
              <a:srgbClr val="F39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4248" y="2173223"/>
              <a:ext cx="3673475" cy="2912745"/>
            </a:xfrm>
            <a:custGeom>
              <a:avLst/>
              <a:gdLst/>
              <a:ahLst/>
              <a:cxnLst/>
              <a:rect l="l" t="t" r="r" b="b"/>
              <a:pathLst>
                <a:path w="3673475" h="2912745">
                  <a:moveTo>
                    <a:pt x="0" y="2912696"/>
                  </a:moveTo>
                  <a:lnTo>
                    <a:pt x="0" y="2569883"/>
                  </a:lnTo>
                  <a:lnTo>
                    <a:pt x="294004" y="2569883"/>
                  </a:lnTo>
                  <a:lnTo>
                    <a:pt x="294004" y="2312784"/>
                  </a:lnTo>
                  <a:lnTo>
                    <a:pt x="588009" y="2312784"/>
                  </a:lnTo>
                  <a:lnTo>
                    <a:pt x="588009" y="2055672"/>
                  </a:lnTo>
                  <a:lnTo>
                    <a:pt x="882014" y="2055672"/>
                  </a:lnTo>
                  <a:lnTo>
                    <a:pt x="882014" y="1797367"/>
                  </a:lnTo>
                  <a:lnTo>
                    <a:pt x="1177163" y="1797367"/>
                  </a:lnTo>
                  <a:lnTo>
                    <a:pt x="1177163" y="1541398"/>
                  </a:lnTo>
                  <a:lnTo>
                    <a:pt x="1470025" y="1541398"/>
                  </a:lnTo>
                  <a:lnTo>
                    <a:pt x="1470025" y="1285494"/>
                  </a:lnTo>
                  <a:lnTo>
                    <a:pt x="1762760" y="1285494"/>
                  </a:lnTo>
                  <a:lnTo>
                    <a:pt x="1762760" y="1028445"/>
                  </a:lnTo>
                  <a:lnTo>
                    <a:pt x="2055622" y="1028445"/>
                  </a:lnTo>
                  <a:lnTo>
                    <a:pt x="2055622" y="771270"/>
                  </a:lnTo>
                  <a:lnTo>
                    <a:pt x="2350769" y="771270"/>
                  </a:lnTo>
                  <a:lnTo>
                    <a:pt x="2350769" y="514223"/>
                  </a:lnTo>
                  <a:lnTo>
                    <a:pt x="2644775" y="514223"/>
                  </a:lnTo>
                  <a:lnTo>
                    <a:pt x="2644775" y="255905"/>
                  </a:lnTo>
                  <a:lnTo>
                    <a:pt x="2938779" y="255905"/>
                  </a:lnTo>
                  <a:lnTo>
                    <a:pt x="2938779" y="0"/>
                  </a:lnTo>
                  <a:lnTo>
                    <a:pt x="3673221" y="0"/>
                  </a:lnTo>
                  <a:lnTo>
                    <a:pt x="3673221" y="2912696"/>
                  </a:lnTo>
                  <a:lnTo>
                    <a:pt x="0" y="2912696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82083" y="2001011"/>
              <a:ext cx="1175385" cy="172720"/>
            </a:xfrm>
            <a:custGeom>
              <a:avLst/>
              <a:gdLst/>
              <a:ahLst/>
              <a:cxnLst/>
              <a:rect l="l" t="t" r="r" b="b"/>
              <a:pathLst>
                <a:path w="1175385" h="172719">
                  <a:moveTo>
                    <a:pt x="734694" y="0"/>
                  </a:moveTo>
                  <a:lnTo>
                    <a:pt x="0" y="0"/>
                  </a:lnTo>
                  <a:lnTo>
                    <a:pt x="440563" y="172593"/>
                  </a:lnTo>
                  <a:lnTo>
                    <a:pt x="1175385" y="172593"/>
                  </a:lnTo>
                  <a:lnTo>
                    <a:pt x="734694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82083" y="2001011"/>
              <a:ext cx="1175385" cy="172720"/>
            </a:xfrm>
            <a:custGeom>
              <a:avLst/>
              <a:gdLst/>
              <a:ahLst/>
              <a:cxnLst/>
              <a:rect l="l" t="t" r="r" b="b"/>
              <a:pathLst>
                <a:path w="1175385" h="172719">
                  <a:moveTo>
                    <a:pt x="734694" y="0"/>
                  </a:moveTo>
                  <a:lnTo>
                    <a:pt x="1175385" y="172593"/>
                  </a:lnTo>
                  <a:lnTo>
                    <a:pt x="440563" y="172593"/>
                  </a:lnTo>
                  <a:lnTo>
                    <a:pt x="0" y="0"/>
                  </a:lnTo>
                  <a:lnTo>
                    <a:pt x="734694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87951" y="2255519"/>
              <a:ext cx="735330" cy="174625"/>
            </a:xfrm>
            <a:custGeom>
              <a:avLst/>
              <a:gdLst/>
              <a:ahLst/>
              <a:cxnLst/>
              <a:rect l="l" t="t" r="r" b="b"/>
              <a:pathLst>
                <a:path w="735329" h="174625">
                  <a:moveTo>
                    <a:pt x="294894" y="0"/>
                  </a:moveTo>
                  <a:lnTo>
                    <a:pt x="0" y="0"/>
                  </a:lnTo>
                  <a:lnTo>
                    <a:pt x="442340" y="174117"/>
                  </a:lnTo>
                  <a:lnTo>
                    <a:pt x="734949" y="174117"/>
                  </a:lnTo>
                  <a:lnTo>
                    <a:pt x="294894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87951" y="2255519"/>
              <a:ext cx="735330" cy="174625"/>
            </a:xfrm>
            <a:custGeom>
              <a:avLst/>
              <a:gdLst/>
              <a:ahLst/>
              <a:cxnLst/>
              <a:rect l="l" t="t" r="r" b="b"/>
              <a:pathLst>
                <a:path w="735329" h="174625">
                  <a:moveTo>
                    <a:pt x="294894" y="0"/>
                  </a:moveTo>
                  <a:lnTo>
                    <a:pt x="734949" y="174117"/>
                  </a:lnTo>
                  <a:lnTo>
                    <a:pt x="442340" y="174117"/>
                  </a:lnTo>
                  <a:lnTo>
                    <a:pt x="0" y="0"/>
                  </a:lnTo>
                  <a:lnTo>
                    <a:pt x="294894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93820" y="2514600"/>
              <a:ext cx="735330" cy="172720"/>
            </a:xfrm>
            <a:custGeom>
              <a:avLst/>
              <a:gdLst/>
              <a:ahLst/>
              <a:cxnLst/>
              <a:rect l="l" t="t" r="r" b="b"/>
              <a:pathLst>
                <a:path w="735329" h="172719">
                  <a:moveTo>
                    <a:pt x="292988" y="0"/>
                  </a:moveTo>
                  <a:lnTo>
                    <a:pt x="0" y="0"/>
                  </a:lnTo>
                  <a:lnTo>
                    <a:pt x="440689" y="172593"/>
                  </a:lnTo>
                  <a:lnTo>
                    <a:pt x="734949" y="172593"/>
                  </a:lnTo>
                  <a:lnTo>
                    <a:pt x="29298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93820" y="2514600"/>
              <a:ext cx="735330" cy="172720"/>
            </a:xfrm>
            <a:custGeom>
              <a:avLst/>
              <a:gdLst/>
              <a:ahLst/>
              <a:cxnLst/>
              <a:rect l="l" t="t" r="r" b="b"/>
              <a:pathLst>
                <a:path w="735329" h="172719">
                  <a:moveTo>
                    <a:pt x="0" y="0"/>
                  </a:moveTo>
                  <a:lnTo>
                    <a:pt x="292988" y="0"/>
                  </a:lnTo>
                  <a:lnTo>
                    <a:pt x="734949" y="172593"/>
                  </a:lnTo>
                  <a:lnTo>
                    <a:pt x="440689" y="172593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01211" y="2770631"/>
              <a:ext cx="733425" cy="172720"/>
            </a:xfrm>
            <a:custGeom>
              <a:avLst/>
              <a:gdLst/>
              <a:ahLst/>
              <a:cxnLst/>
              <a:rect l="l" t="t" r="r" b="b"/>
              <a:pathLst>
                <a:path w="733425" h="172719">
                  <a:moveTo>
                    <a:pt x="292862" y="0"/>
                  </a:moveTo>
                  <a:lnTo>
                    <a:pt x="0" y="0"/>
                  </a:lnTo>
                  <a:lnTo>
                    <a:pt x="439292" y="172593"/>
                  </a:lnTo>
                  <a:lnTo>
                    <a:pt x="733425" y="172593"/>
                  </a:lnTo>
                  <a:lnTo>
                    <a:pt x="292862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01211" y="2770631"/>
              <a:ext cx="733425" cy="172720"/>
            </a:xfrm>
            <a:custGeom>
              <a:avLst/>
              <a:gdLst/>
              <a:ahLst/>
              <a:cxnLst/>
              <a:rect l="l" t="t" r="r" b="b"/>
              <a:pathLst>
                <a:path w="733425" h="172719">
                  <a:moveTo>
                    <a:pt x="0" y="0"/>
                  </a:moveTo>
                  <a:lnTo>
                    <a:pt x="292862" y="0"/>
                  </a:lnTo>
                  <a:lnTo>
                    <a:pt x="733425" y="172593"/>
                  </a:lnTo>
                  <a:lnTo>
                    <a:pt x="439292" y="172593"/>
                  </a:lnTo>
                  <a:lnTo>
                    <a:pt x="0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07079" y="3029711"/>
              <a:ext cx="733425" cy="172720"/>
            </a:xfrm>
            <a:custGeom>
              <a:avLst/>
              <a:gdLst/>
              <a:ahLst/>
              <a:cxnLst/>
              <a:rect l="l" t="t" r="r" b="b"/>
              <a:pathLst>
                <a:path w="733425" h="172719">
                  <a:moveTo>
                    <a:pt x="294005" y="0"/>
                  </a:moveTo>
                  <a:lnTo>
                    <a:pt x="0" y="0"/>
                  </a:lnTo>
                  <a:lnTo>
                    <a:pt x="440563" y="172593"/>
                  </a:lnTo>
                  <a:lnTo>
                    <a:pt x="733425" y="172593"/>
                  </a:lnTo>
                  <a:lnTo>
                    <a:pt x="294005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07079" y="3029711"/>
              <a:ext cx="733425" cy="172720"/>
            </a:xfrm>
            <a:custGeom>
              <a:avLst/>
              <a:gdLst/>
              <a:ahLst/>
              <a:cxnLst/>
              <a:rect l="l" t="t" r="r" b="b"/>
              <a:pathLst>
                <a:path w="733425" h="172719">
                  <a:moveTo>
                    <a:pt x="0" y="0"/>
                  </a:moveTo>
                  <a:lnTo>
                    <a:pt x="294005" y="0"/>
                  </a:lnTo>
                  <a:lnTo>
                    <a:pt x="733425" y="172593"/>
                  </a:lnTo>
                  <a:lnTo>
                    <a:pt x="440563" y="172593"/>
                  </a:lnTo>
                  <a:lnTo>
                    <a:pt x="0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12948" y="3285743"/>
              <a:ext cx="733425" cy="172720"/>
            </a:xfrm>
            <a:custGeom>
              <a:avLst/>
              <a:gdLst/>
              <a:ahLst/>
              <a:cxnLst/>
              <a:rect l="l" t="t" r="r" b="b"/>
              <a:pathLst>
                <a:path w="733425" h="172720">
                  <a:moveTo>
                    <a:pt x="292862" y="0"/>
                  </a:moveTo>
                  <a:lnTo>
                    <a:pt x="0" y="0"/>
                  </a:lnTo>
                  <a:lnTo>
                    <a:pt x="440563" y="172592"/>
                  </a:lnTo>
                  <a:lnTo>
                    <a:pt x="733425" y="172592"/>
                  </a:lnTo>
                  <a:lnTo>
                    <a:pt x="292862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12948" y="3285743"/>
              <a:ext cx="733425" cy="172720"/>
            </a:xfrm>
            <a:custGeom>
              <a:avLst/>
              <a:gdLst/>
              <a:ahLst/>
              <a:cxnLst/>
              <a:rect l="l" t="t" r="r" b="b"/>
              <a:pathLst>
                <a:path w="733425" h="172720">
                  <a:moveTo>
                    <a:pt x="0" y="0"/>
                  </a:moveTo>
                  <a:lnTo>
                    <a:pt x="292862" y="0"/>
                  </a:lnTo>
                  <a:lnTo>
                    <a:pt x="733425" y="172592"/>
                  </a:lnTo>
                  <a:lnTo>
                    <a:pt x="440563" y="172592"/>
                  </a:lnTo>
                  <a:lnTo>
                    <a:pt x="0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18816" y="3544824"/>
              <a:ext cx="735330" cy="169545"/>
            </a:xfrm>
            <a:custGeom>
              <a:avLst/>
              <a:gdLst/>
              <a:ahLst/>
              <a:cxnLst/>
              <a:rect l="l" t="t" r="r" b="b"/>
              <a:pathLst>
                <a:path w="735329" h="169545">
                  <a:moveTo>
                    <a:pt x="294894" y="0"/>
                  </a:moveTo>
                  <a:lnTo>
                    <a:pt x="0" y="0"/>
                  </a:lnTo>
                  <a:lnTo>
                    <a:pt x="442340" y="169544"/>
                  </a:lnTo>
                  <a:lnTo>
                    <a:pt x="734948" y="169544"/>
                  </a:lnTo>
                  <a:lnTo>
                    <a:pt x="294894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18816" y="3544824"/>
              <a:ext cx="735330" cy="169545"/>
            </a:xfrm>
            <a:custGeom>
              <a:avLst/>
              <a:gdLst/>
              <a:ahLst/>
              <a:cxnLst/>
              <a:rect l="l" t="t" r="r" b="b"/>
              <a:pathLst>
                <a:path w="735329" h="169545">
                  <a:moveTo>
                    <a:pt x="0" y="0"/>
                  </a:moveTo>
                  <a:lnTo>
                    <a:pt x="294894" y="0"/>
                  </a:lnTo>
                  <a:lnTo>
                    <a:pt x="734948" y="169544"/>
                  </a:lnTo>
                  <a:lnTo>
                    <a:pt x="442340" y="169544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24683" y="3800856"/>
              <a:ext cx="736600" cy="169545"/>
            </a:xfrm>
            <a:custGeom>
              <a:avLst/>
              <a:gdLst/>
              <a:ahLst/>
              <a:cxnLst/>
              <a:rect l="l" t="t" r="r" b="b"/>
              <a:pathLst>
                <a:path w="736600" h="169545">
                  <a:moveTo>
                    <a:pt x="293116" y="0"/>
                  </a:moveTo>
                  <a:lnTo>
                    <a:pt x="0" y="0"/>
                  </a:lnTo>
                  <a:lnTo>
                    <a:pt x="440944" y="169506"/>
                  </a:lnTo>
                  <a:lnTo>
                    <a:pt x="736473" y="169506"/>
                  </a:lnTo>
                  <a:lnTo>
                    <a:pt x="293116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24683" y="3800856"/>
              <a:ext cx="736600" cy="169545"/>
            </a:xfrm>
            <a:custGeom>
              <a:avLst/>
              <a:gdLst/>
              <a:ahLst/>
              <a:cxnLst/>
              <a:rect l="l" t="t" r="r" b="b"/>
              <a:pathLst>
                <a:path w="736600" h="169545">
                  <a:moveTo>
                    <a:pt x="0" y="0"/>
                  </a:moveTo>
                  <a:lnTo>
                    <a:pt x="293116" y="0"/>
                  </a:lnTo>
                  <a:lnTo>
                    <a:pt x="736473" y="169506"/>
                  </a:lnTo>
                  <a:lnTo>
                    <a:pt x="440944" y="169506"/>
                  </a:lnTo>
                  <a:lnTo>
                    <a:pt x="0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30552" y="4056887"/>
              <a:ext cx="735330" cy="172720"/>
            </a:xfrm>
            <a:custGeom>
              <a:avLst/>
              <a:gdLst/>
              <a:ahLst/>
              <a:cxnLst/>
              <a:rect l="l" t="t" r="r" b="b"/>
              <a:pathLst>
                <a:path w="735330" h="172720">
                  <a:moveTo>
                    <a:pt x="294259" y="0"/>
                  </a:moveTo>
                  <a:lnTo>
                    <a:pt x="0" y="0"/>
                  </a:lnTo>
                  <a:lnTo>
                    <a:pt x="440690" y="172542"/>
                  </a:lnTo>
                  <a:lnTo>
                    <a:pt x="734949" y="172542"/>
                  </a:lnTo>
                  <a:lnTo>
                    <a:pt x="294259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30552" y="4056887"/>
              <a:ext cx="735330" cy="172720"/>
            </a:xfrm>
            <a:custGeom>
              <a:avLst/>
              <a:gdLst/>
              <a:ahLst/>
              <a:cxnLst/>
              <a:rect l="l" t="t" r="r" b="b"/>
              <a:pathLst>
                <a:path w="735330" h="172720">
                  <a:moveTo>
                    <a:pt x="0" y="0"/>
                  </a:moveTo>
                  <a:lnTo>
                    <a:pt x="294259" y="0"/>
                  </a:lnTo>
                  <a:lnTo>
                    <a:pt x="734949" y="172542"/>
                  </a:lnTo>
                  <a:lnTo>
                    <a:pt x="440690" y="172542"/>
                  </a:lnTo>
                  <a:lnTo>
                    <a:pt x="0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36420" y="4315968"/>
              <a:ext cx="735330" cy="169545"/>
            </a:xfrm>
            <a:custGeom>
              <a:avLst/>
              <a:gdLst/>
              <a:ahLst/>
              <a:cxnLst/>
              <a:rect l="l" t="t" r="r" b="b"/>
              <a:pathLst>
                <a:path w="735330" h="169545">
                  <a:moveTo>
                    <a:pt x="294259" y="0"/>
                  </a:moveTo>
                  <a:lnTo>
                    <a:pt x="0" y="0"/>
                  </a:lnTo>
                  <a:lnTo>
                    <a:pt x="440690" y="169494"/>
                  </a:lnTo>
                  <a:lnTo>
                    <a:pt x="734949" y="169494"/>
                  </a:lnTo>
                  <a:lnTo>
                    <a:pt x="294259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36420" y="4315968"/>
              <a:ext cx="735330" cy="169545"/>
            </a:xfrm>
            <a:custGeom>
              <a:avLst/>
              <a:gdLst/>
              <a:ahLst/>
              <a:cxnLst/>
              <a:rect l="l" t="t" r="r" b="b"/>
              <a:pathLst>
                <a:path w="735330" h="169545">
                  <a:moveTo>
                    <a:pt x="0" y="0"/>
                  </a:moveTo>
                  <a:lnTo>
                    <a:pt x="294259" y="0"/>
                  </a:lnTo>
                  <a:lnTo>
                    <a:pt x="734949" y="169494"/>
                  </a:lnTo>
                  <a:lnTo>
                    <a:pt x="440690" y="169494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43812" y="4571999"/>
              <a:ext cx="733425" cy="171450"/>
            </a:xfrm>
            <a:custGeom>
              <a:avLst/>
              <a:gdLst/>
              <a:ahLst/>
              <a:cxnLst/>
              <a:rect l="l" t="t" r="r" b="b"/>
              <a:pathLst>
                <a:path w="733425" h="171450">
                  <a:moveTo>
                    <a:pt x="293624" y="0"/>
                  </a:moveTo>
                  <a:lnTo>
                    <a:pt x="0" y="0"/>
                  </a:lnTo>
                  <a:lnTo>
                    <a:pt x="439800" y="171018"/>
                  </a:lnTo>
                  <a:lnTo>
                    <a:pt x="733425" y="171018"/>
                  </a:lnTo>
                  <a:lnTo>
                    <a:pt x="293624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43812" y="4571999"/>
              <a:ext cx="733425" cy="171450"/>
            </a:xfrm>
            <a:custGeom>
              <a:avLst/>
              <a:gdLst/>
              <a:ahLst/>
              <a:cxnLst/>
              <a:rect l="l" t="t" r="r" b="b"/>
              <a:pathLst>
                <a:path w="733425" h="171450">
                  <a:moveTo>
                    <a:pt x="0" y="0"/>
                  </a:moveTo>
                  <a:lnTo>
                    <a:pt x="293624" y="0"/>
                  </a:lnTo>
                  <a:lnTo>
                    <a:pt x="733425" y="171018"/>
                  </a:lnTo>
                  <a:lnTo>
                    <a:pt x="439800" y="171018"/>
                  </a:lnTo>
                  <a:lnTo>
                    <a:pt x="0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43812" y="4571999"/>
              <a:ext cx="439420" cy="514350"/>
            </a:xfrm>
            <a:custGeom>
              <a:avLst/>
              <a:gdLst/>
              <a:ahLst/>
              <a:cxnLst/>
              <a:rect l="l" t="t" r="r" b="b"/>
              <a:pathLst>
                <a:path w="439419" h="514350">
                  <a:moveTo>
                    <a:pt x="0" y="0"/>
                  </a:moveTo>
                  <a:lnTo>
                    <a:pt x="0" y="341426"/>
                  </a:lnTo>
                  <a:lnTo>
                    <a:pt x="439293" y="513922"/>
                  </a:lnTo>
                  <a:lnTo>
                    <a:pt x="439293" y="172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43812" y="4571999"/>
              <a:ext cx="439420" cy="514350"/>
            </a:xfrm>
            <a:custGeom>
              <a:avLst/>
              <a:gdLst/>
              <a:ahLst/>
              <a:cxnLst/>
              <a:rect l="l" t="t" r="r" b="b"/>
              <a:pathLst>
                <a:path w="439419" h="514350">
                  <a:moveTo>
                    <a:pt x="0" y="0"/>
                  </a:moveTo>
                  <a:lnTo>
                    <a:pt x="439293" y="172491"/>
                  </a:lnTo>
                  <a:lnTo>
                    <a:pt x="439293" y="513922"/>
                  </a:lnTo>
                  <a:lnTo>
                    <a:pt x="0" y="341426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36420" y="4315968"/>
              <a:ext cx="441325" cy="427355"/>
            </a:xfrm>
            <a:custGeom>
              <a:avLst/>
              <a:gdLst/>
              <a:ahLst/>
              <a:cxnLst/>
              <a:rect l="l" t="t" r="r" b="b"/>
              <a:pathLst>
                <a:path w="441325" h="427354">
                  <a:moveTo>
                    <a:pt x="0" y="0"/>
                  </a:moveTo>
                  <a:lnTo>
                    <a:pt x="0" y="255752"/>
                  </a:lnTo>
                  <a:lnTo>
                    <a:pt x="440817" y="427050"/>
                  </a:lnTo>
                  <a:lnTo>
                    <a:pt x="440817" y="170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36420" y="4315968"/>
              <a:ext cx="441325" cy="427355"/>
            </a:xfrm>
            <a:custGeom>
              <a:avLst/>
              <a:gdLst/>
              <a:ahLst/>
              <a:cxnLst/>
              <a:rect l="l" t="t" r="r" b="b"/>
              <a:pathLst>
                <a:path w="441325" h="427354">
                  <a:moveTo>
                    <a:pt x="0" y="0"/>
                  </a:moveTo>
                  <a:lnTo>
                    <a:pt x="0" y="255752"/>
                  </a:lnTo>
                  <a:lnTo>
                    <a:pt x="440817" y="427050"/>
                  </a:lnTo>
                  <a:lnTo>
                    <a:pt x="440817" y="170103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30552" y="4056887"/>
              <a:ext cx="441325" cy="428625"/>
            </a:xfrm>
            <a:custGeom>
              <a:avLst/>
              <a:gdLst/>
              <a:ahLst/>
              <a:cxnLst/>
              <a:rect l="l" t="t" r="r" b="b"/>
              <a:pathLst>
                <a:path w="441325" h="428625">
                  <a:moveTo>
                    <a:pt x="0" y="0"/>
                  </a:moveTo>
                  <a:lnTo>
                    <a:pt x="0" y="258330"/>
                  </a:lnTo>
                  <a:lnTo>
                    <a:pt x="440817" y="428574"/>
                  </a:lnTo>
                  <a:lnTo>
                    <a:pt x="440817" y="172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30552" y="4056887"/>
              <a:ext cx="441325" cy="428625"/>
            </a:xfrm>
            <a:custGeom>
              <a:avLst/>
              <a:gdLst/>
              <a:ahLst/>
              <a:cxnLst/>
              <a:rect l="l" t="t" r="r" b="b"/>
              <a:pathLst>
                <a:path w="441325" h="428625">
                  <a:moveTo>
                    <a:pt x="0" y="0"/>
                  </a:moveTo>
                  <a:lnTo>
                    <a:pt x="0" y="258330"/>
                  </a:lnTo>
                  <a:lnTo>
                    <a:pt x="440817" y="428574"/>
                  </a:lnTo>
                  <a:lnTo>
                    <a:pt x="440817" y="172618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24683" y="3800856"/>
              <a:ext cx="441325" cy="428625"/>
            </a:xfrm>
            <a:custGeom>
              <a:avLst/>
              <a:gdLst/>
              <a:ahLst/>
              <a:cxnLst/>
              <a:rect l="l" t="t" r="r" b="b"/>
              <a:pathLst>
                <a:path w="441325" h="428625">
                  <a:moveTo>
                    <a:pt x="0" y="0"/>
                  </a:moveTo>
                  <a:lnTo>
                    <a:pt x="0" y="255955"/>
                  </a:lnTo>
                  <a:lnTo>
                    <a:pt x="440817" y="428574"/>
                  </a:lnTo>
                  <a:lnTo>
                    <a:pt x="440817" y="170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424683" y="3800856"/>
              <a:ext cx="441325" cy="428625"/>
            </a:xfrm>
            <a:custGeom>
              <a:avLst/>
              <a:gdLst/>
              <a:ahLst/>
              <a:cxnLst/>
              <a:rect l="l" t="t" r="r" b="b"/>
              <a:pathLst>
                <a:path w="441325" h="428625">
                  <a:moveTo>
                    <a:pt x="0" y="0"/>
                  </a:moveTo>
                  <a:lnTo>
                    <a:pt x="0" y="255955"/>
                  </a:lnTo>
                  <a:lnTo>
                    <a:pt x="440817" y="428574"/>
                  </a:lnTo>
                  <a:lnTo>
                    <a:pt x="440817" y="170243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18816" y="3544824"/>
              <a:ext cx="442595" cy="426084"/>
            </a:xfrm>
            <a:custGeom>
              <a:avLst/>
              <a:gdLst/>
              <a:ahLst/>
              <a:cxnLst/>
              <a:rect l="l" t="t" r="r" b="b"/>
              <a:pathLst>
                <a:path w="442594" h="426085">
                  <a:moveTo>
                    <a:pt x="0" y="0"/>
                  </a:moveTo>
                  <a:lnTo>
                    <a:pt x="0" y="255523"/>
                  </a:lnTo>
                  <a:lnTo>
                    <a:pt x="442340" y="425526"/>
                  </a:lnTo>
                  <a:lnTo>
                    <a:pt x="442340" y="1699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18816" y="3544824"/>
              <a:ext cx="442595" cy="426084"/>
            </a:xfrm>
            <a:custGeom>
              <a:avLst/>
              <a:gdLst/>
              <a:ahLst/>
              <a:cxnLst/>
              <a:rect l="l" t="t" r="r" b="b"/>
              <a:pathLst>
                <a:path w="442594" h="426085">
                  <a:moveTo>
                    <a:pt x="0" y="0"/>
                  </a:moveTo>
                  <a:lnTo>
                    <a:pt x="0" y="255523"/>
                  </a:lnTo>
                  <a:lnTo>
                    <a:pt x="442340" y="425526"/>
                  </a:lnTo>
                  <a:lnTo>
                    <a:pt x="442340" y="169925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12948" y="3285743"/>
              <a:ext cx="441325" cy="428625"/>
            </a:xfrm>
            <a:custGeom>
              <a:avLst/>
              <a:gdLst/>
              <a:ahLst/>
              <a:cxnLst/>
              <a:rect l="l" t="t" r="r" b="b"/>
              <a:pathLst>
                <a:path w="441325" h="428625">
                  <a:moveTo>
                    <a:pt x="0" y="0"/>
                  </a:moveTo>
                  <a:lnTo>
                    <a:pt x="0" y="257809"/>
                  </a:lnTo>
                  <a:lnTo>
                    <a:pt x="440816" y="428624"/>
                  </a:lnTo>
                  <a:lnTo>
                    <a:pt x="440816" y="1719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12948" y="3285743"/>
              <a:ext cx="441325" cy="428625"/>
            </a:xfrm>
            <a:custGeom>
              <a:avLst/>
              <a:gdLst/>
              <a:ahLst/>
              <a:cxnLst/>
              <a:rect l="l" t="t" r="r" b="b"/>
              <a:pathLst>
                <a:path w="441325" h="428625">
                  <a:moveTo>
                    <a:pt x="0" y="257809"/>
                  </a:moveTo>
                  <a:lnTo>
                    <a:pt x="440816" y="428624"/>
                  </a:lnTo>
                  <a:lnTo>
                    <a:pt x="440816" y="171957"/>
                  </a:lnTo>
                  <a:lnTo>
                    <a:pt x="0" y="0"/>
                  </a:lnTo>
                  <a:lnTo>
                    <a:pt x="0" y="257809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307079" y="3029711"/>
              <a:ext cx="439420" cy="428625"/>
            </a:xfrm>
            <a:custGeom>
              <a:avLst/>
              <a:gdLst/>
              <a:ahLst/>
              <a:cxnLst/>
              <a:rect l="l" t="t" r="r" b="b"/>
              <a:pathLst>
                <a:path w="439420" h="428625">
                  <a:moveTo>
                    <a:pt x="0" y="0"/>
                  </a:moveTo>
                  <a:lnTo>
                    <a:pt x="0" y="256667"/>
                  </a:lnTo>
                  <a:lnTo>
                    <a:pt x="439293" y="428625"/>
                  </a:lnTo>
                  <a:lnTo>
                    <a:pt x="439293" y="1719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307079" y="3029711"/>
              <a:ext cx="439420" cy="428625"/>
            </a:xfrm>
            <a:custGeom>
              <a:avLst/>
              <a:gdLst/>
              <a:ahLst/>
              <a:cxnLst/>
              <a:rect l="l" t="t" r="r" b="b"/>
              <a:pathLst>
                <a:path w="439420" h="428625">
                  <a:moveTo>
                    <a:pt x="0" y="0"/>
                  </a:moveTo>
                  <a:lnTo>
                    <a:pt x="0" y="256667"/>
                  </a:lnTo>
                  <a:lnTo>
                    <a:pt x="439293" y="428625"/>
                  </a:lnTo>
                  <a:lnTo>
                    <a:pt x="439293" y="171957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01211" y="2770631"/>
              <a:ext cx="439420" cy="431800"/>
            </a:xfrm>
            <a:custGeom>
              <a:avLst/>
              <a:gdLst/>
              <a:ahLst/>
              <a:cxnLst/>
              <a:rect l="l" t="t" r="r" b="b"/>
              <a:pathLst>
                <a:path w="439420" h="431800">
                  <a:moveTo>
                    <a:pt x="0" y="0"/>
                  </a:moveTo>
                  <a:lnTo>
                    <a:pt x="0" y="259206"/>
                  </a:lnTo>
                  <a:lnTo>
                    <a:pt x="439292" y="431673"/>
                  </a:lnTo>
                  <a:lnTo>
                    <a:pt x="439292" y="1724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601211" y="2770631"/>
              <a:ext cx="439420" cy="431800"/>
            </a:xfrm>
            <a:custGeom>
              <a:avLst/>
              <a:gdLst/>
              <a:ahLst/>
              <a:cxnLst/>
              <a:rect l="l" t="t" r="r" b="b"/>
              <a:pathLst>
                <a:path w="439420" h="431800">
                  <a:moveTo>
                    <a:pt x="0" y="0"/>
                  </a:moveTo>
                  <a:lnTo>
                    <a:pt x="0" y="259206"/>
                  </a:lnTo>
                  <a:lnTo>
                    <a:pt x="439292" y="431673"/>
                  </a:lnTo>
                  <a:lnTo>
                    <a:pt x="439292" y="172466"/>
                  </a:lnTo>
                  <a:lnTo>
                    <a:pt x="0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93820" y="2514600"/>
              <a:ext cx="441325" cy="428625"/>
            </a:xfrm>
            <a:custGeom>
              <a:avLst/>
              <a:gdLst/>
              <a:ahLst/>
              <a:cxnLst/>
              <a:rect l="l" t="t" r="r" b="b"/>
              <a:pathLst>
                <a:path w="441325" h="428625">
                  <a:moveTo>
                    <a:pt x="0" y="0"/>
                  </a:moveTo>
                  <a:lnTo>
                    <a:pt x="0" y="255905"/>
                  </a:lnTo>
                  <a:lnTo>
                    <a:pt x="440816" y="428625"/>
                  </a:lnTo>
                  <a:lnTo>
                    <a:pt x="440816" y="1725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93820" y="2514600"/>
              <a:ext cx="441325" cy="428625"/>
            </a:xfrm>
            <a:custGeom>
              <a:avLst/>
              <a:gdLst/>
              <a:ahLst/>
              <a:cxnLst/>
              <a:rect l="l" t="t" r="r" b="b"/>
              <a:pathLst>
                <a:path w="441325" h="428625">
                  <a:moveTo>
                    <a:pt x="0" y="0"/>
                  </a:moveTo>
                  <a:lnTo>
                    <a:pt x="0" y="255905"/>
                  </a:lnTo>
                  <a:lnTo>
                    <a:pt x="440816" y="428625"/>
                  </a:lnTo>
                  <a:lnTo>
                    <a:pt x="440816" y="172593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187951" y="2255519"/>
              <a:ext cx="441325" cy="431800"/>
            </a:xfrm>
            <a:custGeom>
              <a:avLst/>
              <a:gdLst/>
              <a:ahLst/>
              <a:cxnLst/>
              <a:rect l="l" t="t" r="r" b="b"/>
              <a:pathLst>
                <a:path w="441325" h="431800">
                  <a:moveTo>
                    <a:pt x="0" y="0"/>
                  </a:moveTo>
                  <a:lnTo>
                    <a:pt x="0" y="258699"/>
                  </a:lnTo>
                  <a:lnTo>
                    <a:pt x="440817" y="431673"/>
                  </a:lnTo>
                  <a:lnTo>
                    <a:pt x="440817" y="1728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187951" y="2255519"/>
              <a:ext cx="441325" cy="431800"/>
            </a:xfrm>
            <a:custGeom>
              <a:avLst/>
              <a:gdLst/>
              <a:ahLst/>
              <a:cxnLst/>
              <a:rect l="l" t="t" r="r" b="b"/>
              <a:pathLst>
                <a:path w="441325" h="431800">
                  <a:moveTo>
                    <a:pt x="0" y="0"/>
                  </a:moveTo>
                  <a:lnTo>
                    <a:pt x="0" y="258699"/>
                  </a:lnTo>
                  <a:lnTo>
                    <a:pt x="440817" y="431673"/>
                  </a:lnTo>
                  <a:lnTo>
                    <a:pt x="440817" y="172847"/>
                  </a:lnTo>
                  <a:lnTo>
                    <a:pt x="0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482083" y="2001011"/>
              <a:ext cx="441325" cy="428625"/>
            </a:xfrm>
            <a:custGeom>
              <a:avLst/>
              <a:gdLst/>
              <a:ahLst/>
              <a:cxnLst/>
              <a:rect l="l" t="t" r="r" b="b"/>
              <a:pathLst>
                <a:path w="441325" h="428625">
                  <a:moveTo>
                    <a:pt x="0" y="0"/>
                  </a:moveTo>
                  <a:lnTo>
                    <a:pt x="0" y="255905"/>
                  </a:lnTo>
                  <a:lnTo>
                    <a:pt x="440816" y="428625"/>
                  </a:lnTo>
                  <a:lnTo>
                    <a:pt x="440816" y="1725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82083" y="2001011"/>
              <a:ext cx="441325" cy="428625"/>
            </a:xfrm>
            <a:custGeom>
              <a:avLst/>
              <a:gdLst/>
              <a:ahLst/>
              <a:cxnLst/>
              <a:rect l="l" t="t" r="r" b="b"/>
              <a:pathLst>
                <a:path w="441325" h="428625">
                  <a:moveTo>
                    <a:pt x="0" y="0"/>
                  </a:moveTo>
                  <a:lnTo>
                    <a:pt x="0" y="255905"/>
                  </a:lnTo>
                  <a:lnTo>
                    <a:pt x="440816" y="428625"/>
                  </a:lnTo>
                  <a:lnTo>
                    <a:pt x="440816" y="172593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323594" y="1626488"/>
              <a:ext cx="2826385" cy="2569845"/>
            </a:xfrm>
            <a:custGeom>
              <a:avLst/>
              <a:gdLst/>
              <a:ahLst/>
              <a:cxnLst/>
              <a:rect l="l" t="t" r="r" b="b"/>
              <a:pathLst>
                <a:path w="2826385" h="2569845">
                  <a:moveTo>
                    <a:pt x="2825877" y="0"/>
                  </a:moveTo>
                  <a:lnTo>
                    <a:pt x="1120394" y="1055878"/>
                  </a:lnTo>
                  <a:lnTo>
                    <a:pt x="1239647" y="1188339"/>
                  </a:lnTo>
                  <a:lnTo>
                    <a:pt x="0" y="2304542"/>
                  </a:lnTo>
                  <a:lnTo>
                    <a:pt x="238633" y="2569540"/>
                  </a:lnTo>
                  <a:lnTo>
                    <a:pt x="1478280" y="1453388"/>
                  </a:lnTo>
                  <a:lnTo>
                    <a:pt x="1597533" y="1585849"/>
                  </a:lnTo>
                  <a:lnTo>
                    <a:pt x="28258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23594" y="1626488"/>
              <a:ext cx="2826385" cy="2569845"/>
            </a:xfrm>
            <a:custGeom>
              <a:avLst/>
              <a:gdLst/>
              <a:ahLst/>
              <a:cxnLst/>
              <a:rect l="l" t="t" r="r" b="b"/>
              <a:pathLst>
                <a:path w="2826385" h="2569845">
                  <a:moveTo>
                    <a:pt x="0" y="2304542"/>
                  </a:moveTo>
                  <a:lnTo>
                    <a:pt x="1239647" y="1188339"/>
                  </a:lnTo>
                  <a:lnTo>
                    <a:pt x="1120394" y="1055878"/>
                  </a:lnTo>
                  <a:lnTo>
                    <a:pt x="2825877" y="0"/>
                  </a:lnTo>
                  <a:lnTo>
                    <a:pt x="1597533" y="1585849"/>
                  </a:lnTo>
                  <a:lnTo>
                    <a:pt x="1478280" y="1453388"/>
                  </a:lnTo>
                  <a:lnTo>
                    <a:pt x="238633" y="2569540"/>
                  </a:lnTo>
                  <a:lnTo>
                    <a:pt x="0" y="230454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2285492" y="2928620"/>
            <a:ext cx="3116580" cy="218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latin typeface="Times New Roman"/>
                <a:cs typeface="Times New Roman"/>
              </a:rPr>
              <a:t>FASE </a:t>
            </a:r>
            <a:r>
              <a:rPr sz="1800" b="1" spc="-5" dirty="0">
                <a:latin typeface="Times New Roman"/>
                <a:cs typeface="Times New Roman"/>
              </a:rPr>
              <a:t>N </a:t>
            </a:r>
            <a:r>
              <a:rPr sz="1800" b="1" dirty="0">
                <a:latin typeface="Times New Roman"/>
                <a:cs typeface="Times New Roman"/>
              </a:rPr>
              <a:t>+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1098550" marR="706120" indent="513715">
              <a:lnSpc>
                <a:spcPts val="4050"/>
              </a:lnSpc>
            </a:pPr>
            <a:r>
              <a:rPr sz="1800" b="1" spc="-40" dirty="0">
                <a:latin typeface="Times New Roman"/>
                <a:cs typeface="Times New Roman"/>
              </a:rPr>
              <a:t>FASE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N  </a:t>
            </a:r>
            <a:r>
              <a:rPr sz="1800" b="1" spc="-40" dirty="0">
                <a:latin typeface="Times New Roman"/>
                <a:cs typeface="Times New Roman"/>
              </a:rPr>
              <a:t>FASE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  <a:p>
            <a:pPr marL="527050">
              <a:lnSpc>
                <a:spcPct val="100000"/>
              </a:lnSpc>
              <a:spcBef>
                <a:spcPts val="990"/>
              </a:spcBef>
            </a:pPr>
            <a:r>
              <a:rPr sz="1800" b="1" spc="-40" dirty="0">
                <a:latin typeface="Times New Roman"/>
                <a:cs typeface="Times New Roman"/>
              </a:rPr>
              <a:t>FASE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1800" b="1" spc="-35" dirty="0">
                <a:latin typeface="Times New Roman"/>
                <a:cs typeface="Times New Roman"/>
              </a:rPr>
              <a:t>FASE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760255" y="1201216"/>
            <a:ext cx="554031" cy="903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563369" y="1975230"/>
            <a:ext cx="2248916" cy="20604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37239" y="150061"/>
            <a:ext cx="5155565" cy="1442085"/>
            <a:chOff x="1737239" y="150061"/>
            <a:chExt cx="5155565" cy="1442085"/>
          </a:xfrm>
        </p:grpSpPr>
        <p:sp>
          <p:nvSpPr>
            <p:cNvPr id="3" name="object 3"/>
            <p:cNvSpPr/>
            <p:nvPr/>
          </p:nvSpPr>
          <p:spPr>
            <a:xfrm>
              <a:off x="1737239" y="150061"/>
              <a:ext cx="5155240" cy="4138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12263" y="472439"/>
              <a:ext cx="4440174" cy="111937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24025" y="0"/>
            <a:ext cx="518604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2945" marR="5080" indent="-6908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ACTIVIDADES DE</a:t>
            </a:r>
            <a:r>
              <a:rPr spc="-75" dirty="0"/>
              <a:t> </a:t>
            </a:r>
            <a:r>
              <a:rPr spc="-5" dirty="0"/>
              <a:t>UN  </a:t>
            </a:r>
            <a:r>
              <a:rPr spc="-10" dirty="0"/>
              <a:t>CICLO </a:t>
            </a:r>
            <a:r>
              <a:rPr spc="-5" dirty="0"/>
              <a:t>DE VIDA</a:t>
            </a:r>
          </a:p>
        </p:txBody>
      </p:sp>
      <p:sp>
        <p:nvSpPr>
          <p:cNvPr id="6" name="object 6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87780" y="1383791"/>
            <a:ext cx="6201156" cy="12923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87780" y="3163589"/>
            <a:ext cx="5766816" cy="92073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72303" y="281728"/>
            <a:ext cx="2541425" cy="413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6570" y="128727"/>
            <a:ext cx="2560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</a:t>
            </a:r>
            <a:r>
              <a:rPr spc="-20" dirty="0"/>
              <a:t>A</a:t>
            </a:r>
            <a:r>
              <a:rPr spc="-5" dirty="0"/>
              <a:t>SC</a:t>
            </a:r>
            <a:r>
              <a:rPr spc="-25" dirty="0"/>
              <a:t>A</a:t>
            </a:r>
            <a:r>
              <a:rPr spc="-5" dirty="0"/>
              <a:t>DA</a:t>
            </a:r>
          </a:p>
        </p:txBody>
      </p:sp>
      <p:sp>
        <p:nvSpPr>
          <p:cNvPr id="4" name="object 4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88719" y="714755"/>
            <a:ext cx="6766559" cy="37139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4275" y="281728"/>
            <a:ext cx="5374626" cy="413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31060" y="128727"/>
            <a:ext cx="5370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VENTAJAS</a:t>
            </a:r>
            <a:r>
              <a:rPr spc="-50" dirty="0"/>
              <a:t> </a:t>
            </a:r>
            <a:r>
              <a:rPr spc="-10" dirty="0"/>
              <a:t>CASCADA</a:t>
            </a:r>
          </a:p>
        </p:txBody>
      </p:sp>
      <p:sp>
        <p:nvSpPr>
          <p:cNvPr id="4" name="object 4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57249" y="1285439"/>
            <a:ext cx="5572244" cy="31065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0632" y="281728"/>
            <a:ext cx="6113898" cy="413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5514" y="128727"/>
            <a:ext cx="61417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DEBILIDADES</a:t>
            </a:r>
            <a:r>
              <a:rPr spc="-50" dirty="0"/>
              <a:t> </a:t>
            </a:r>
            <a:r>
              <a:rPr spc="-10" dirty="0"/>
              <a:t>CASCADA</a:t>
            </a:r>
          </a:p>
        </p:txBody>
      </p:sp>
      <p:sp>
        <p:nvSpPr>
          <p:cNvPr id="4" name="object 4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77015" y="963788"/>
            <a:ext cx="5046075" cy="31587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0632" y="281728"/>
            <a:ext cx="6113898" cy="413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5514" y="128727"/>
            <a:ext cx="61417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DEBILIDADES</a:t>
            </a:r>
            <a:r>
              <a:rPr spc="-50" dirty="0"/>
              <a:t> </a:t>
            </a:r>
            <a:r>
              <a:rPr spc="-10" dirty="0"/>
              <a:t>CASCADA</a:t>
            </a:r>
          </a:p>
        </p:txBody>
      </p:sp>
      <p:sp>
        <p:nvSpPr>
          <p:cNvPr id="4" name="object 4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77015" y="963788"/>
            <a:ext cx="5046075" cy="31587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23437" y="281728"/>
            <a:ext cx="3640667" cy="413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8785" y="128727"/>
            <a:ext cx="36779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INC</a:t>
            </a:r>
            <a:r>
              <a:rPr spc="-25" dirty="0"/>
              <a:t>R</a:t>
            </a:r>
            <a:r>
              <a:rPr spc="-5" dirty="0"/>
              <a:t>EM</a:t>
            </a:r>
            <a:r>
              <a:rPr spc="-20" dirty="0"/>
              <a:t>E</a:t>
            </a:r>
            <a:r>
              <a:rPr spc="-5" dirty="0"/>
              <a:t>N</a:t>
            </a:r>
            <a:r>
              <a:rPr spc="-320" dirty="0"/>
              <a:t>T</a:t>
            </a:r>
            <a:r>
              <a:rPr spc="-5" dirty="0"/>
              <a:t>AL</a:t>
            </a:r>
          </a:p>
        </p:txBody>
      </p:sp>
      <p:sp>
        <p:nvSpPr>
          <p:cNvPr id="4" name="object 4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46275" y="714755"/>
            <a:ext cx="5426964" cy="31318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44726" y="4152087"/>
            <a:ext cx="4679315" cy="643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LOS REQUISITOS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DEL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USUARIO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Y DEL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PRODUCTO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SUELEN</a:t>
            </a:r>
            <a:r>
              <a:rPr sz="1350" spc="-155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CAMBIAR  CONFORME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SE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DESARROLLA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EL MISMO Y EN 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CADA ITERACIÓN  </a:t>
            </a:r>
            <a:r>
              <a:rPr sz="1350" spc="-20" dirty="0">
                <a:solidFill>
                  <a:srgbClr val="001F5F"/>
                </a:solidFill>
                <a:latin typeface="Carlito"/>
                <a:cs typeface="Carlito"/>
              </a:rPr>
              <a:t>AUMENTA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LA</a:t>
            </a:r>
            <a:r>
              <a:rPr sz="1350" spc="-55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FUNCIONALIDAD.</a:t>
            </a:r>
            <a:endParaRPr sz="13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3014" y="281728"/>
            <a:ext cx="3652385" cy="413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68117" y="128727"/>
            <a:ext cx="36976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</a:t>
            </a:r>
            <a:r>
              <a:rPr spc="-20" dirty="0"/>
              <a:t>O</a:t>
            </a:r>
            <a:r>
              <a:rPr spc="-85" dirty="0"/>
              <a:t>T</a:t>
            </a:r>
            <a:r>
              <a:rPr spc="-5" dirty="0"/>
              <a:t>OTI</a:t>
            </a:r>
            <a:r>
              <a:rPr spc="-315" dirty="0"/>
              <a:t>P</a:t>
            </a:r>
            <a:r>
              <a:rPr spc="-5" dirty="0"/>
              <a:t>A</a:t>
            </a:r>
            <a:r>
              <a:rPr spc="-20" dirty="0"/>
              <a:t>D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96083" y="714755"/>
            <a:ext cx="3922776" cy="29367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18666" y="3673855"/>
            <a:ext cx="5083810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 algn="just">
              <a:lnSpc>
                <a:spcPct val="100000"/>
              </a:lnSpc>
              <a:spcBef>
                <a:spcPts val="105"/>
              </a:spcBef>
            </a:pP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El diseño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rápido lleva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a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la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construcción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de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un prototipo.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Este </a:t>
            </a:r>
            <a:r>
              <a:rPr sz="1350" b="1" spc="-15" dirty="0">
                <a:solidFill>
                  <a:srgbClr val="001F5F"/>
                </a:solidFill>
                <a:latin typeface="Carlito"/>
                <a:cs typeface="Carlito"/>
              </a:rPr>
              <a:t>se  entrega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y es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evaluado por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los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participantes,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que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dan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retroalimentación  para mejorar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los requisitos. Las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iteraciones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se suceden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a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medida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de  que</a:t>
            </a:r>
            <a:r>
              <a:rPr sz="1350" b="1" spc="-25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el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prototipo</a:t>
            </a:r>
            <a:r>
              <a:rPr sz="1350" b="1" spc="-5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es</a:t>
            </a:r>
            <a:r>
              <a:rPr sz="1350" b="1" spc="-15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refinado</a:t>
            </a:r>
            <a:r>
              <a:rPr sz="1350" b="1" spc="-3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para</a:t>
            </a:r>
            <a:r>
              <a:rPr sz="1350" b="1" spc="-3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satisfacer</a:t>
            </a:r>
            <a:r>
              <a:rPr sz="1350" b="1" spc="-4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las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necesidades</a:t>
            </a:r>
            <a:r>
              <a:rPr sz="1350" b="1" spc="-3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del</a:t>
            </a:r>
            <a:r>
              <a:rPr sz="1350" b="1" spc="-25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cliente.</a:t>
            </a:r>
            <a:endParaRPr sz="13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13091" y="281728"/>
            <a:ext cx="3052226" cy="413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68345" y="128727"/>
            <a:ext cx="30975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ITE</a:t>
            </a:r>
            <a:r>
              <a:rPr spc="-20" dirty="0"/>
              <a:t>R</a:t>
            </a:r>
            <a:r>
              <a:rPr spc="-5" dirty="0"/>
              <a:t>A</a:t>
            </a:r>
            <a:r>
              <a:rPr spc="-20" dirty="0"/>
              <a:t>C</a:t>
            </a:r>
            <a:r>
              <a:rPr spc="-5" dirty="0"/>
              <a:t>TIVO</a:t>
            </a:r>
          </a:p>
        </p:txBody>
      </p:sp>
      <p:sp>
        <p:nvSpPr>
          <p:cNvPr id="4" name="object 4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75881" y="829055"/>
            <a:ext cx="5641782" cy="27934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39621" y="3704945"/>
            <a:ext cx="563054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Requiere</a:t>
            </a:r>
            <a:r>
              <a:rPr sz="1350" b="1" spc="-5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entregas</a:t>
            </a:r>
            <a:r>
              <a:rPr sz="1350" b="1" spc="-35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rápidas</a:t>
            </a:r>
            <a:r>
              <a:rPr sz="1350" b="1" spc="-4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y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existe</a:t>
            </a:r>
            <a:r>
              <a:rPr sz="1350" b="1" spc="-2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un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grupo</a:t>
            </a:r>
            <a:r>
              <a:rPr sz="1350" b="1" spc="-3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de</a:t>
            </a:r>
            <a:r>
              <a:rPr sz="1350" b="1" spc="-2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usuarios</a:t>
            </a:r>
            <a:r>
              <a:rPr sz="1350" b="1" spc="-35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(Ingenieros,</a:t>
            </a:r>
            <a:r>
              <a:rPr sz="1350" b="1" spc="-35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y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Usuarios  Finales)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para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que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interactué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permanentemente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con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la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empresa desarrolladora  con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el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propósito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de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mejorar sistema propuesto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y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lograr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su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implantación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en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el 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menor tiempo</a:t>
            </a:r>
            <a:r>
              <a:rPr sz="1350" b="1" spc="-75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posible.</a:t>
            </a:r>
            <a:endParaRPr sz="13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86094" y="281728"/>
            <a:ext cx="2913823" cy="413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50642" y="128727"/>
            <a:ext cx="2930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CICLO </a:t>
            </a:r>
            <a:r>
              <a:rPr spc="-5" dirty="0"/>
              <a:t>EN</a:t>
            </a:r>
            <a:r>
              <a:rPr spc="-50" dirty="0"/>
              <a:t> </a:t>
            </a:r>
            <a:r>
              <a:rPr spc="-5" dirty="0"/>
              <a:t>V</a:t>
            </a:r>
          </a:p>
        </p:txBody>
      </p:sp>
      <p:sp>
        <p:nvSpPr>
          <p:cNvPr id="4" name="object 4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75588" y="902307"/>
            <a:ext cx="6079236" cy="36011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86094" y="281728"/>
            <a:ext cx="2913823" cy="413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50642" y="128727"/>
            <a:ext cx="2930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CICLO </a:t>
            </a:r>
            <a:r>
              <a:rPr spc="-5" dirty="0"/>
              <a:t>EN</a:t>
            </a:r>
            <a:r>
              <a:rPr spc="-50" dirty="0"/>
              <a:t> </a:t>
            </a:r>
            <a:r>
              <a:rPr spc="-5" dirty="0"/>
              <a:t>V</a:t>
            </a:r>
          </a:p>
        </p:txBody>
      </p:sp>
      <p:sp>
        <p:nvSpPr>
          <p:cNvPr id="4" name="object 4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92600" y="1392972"/>
            <a:ext cx="5107768" cy="167472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64969" y="281728"/>
            <a:ext cx="4557619" cy="413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20061" y="128727"/>
            <a:ext cx="45929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MODELO</a:t>
            </a:r>
            <a:r>
              <a:rPr spc="-75" dirty="0"/>
              <a:t> </a:t>
            </a:r>
            <a:r>
              <a:rPr spc="-5" dirty="0"/>
              <a:t>ESPIRAL</a:t>
            </a:r>
          </a:p>
        </p:txBody>
      </p:sp>
      <p:sp>
        <p:nvSpPr>
          <p:cNvPr id="4" name="object 4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93519" y="1007363"/>
            <a:ext cx="5871972" cy="355787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64969" y="281728"/>
            <a:ext cx="4557619" cy="413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20061" y="128727"/>
            <a:ext cx="45929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MODELO</a:t>
            </a:r>
            <a:r>
              <a:rPr spc="-75" dirty="0"/>
              <a:t> </a:t>
            </a:r>
            <a:r>
              <a:rPr spc="-5" dirty="0"/>
              <a:t>ESPIRAL</a:t>
            </a:r>
          </a:p>
        </p:txBody>
      </p:sp>
      <p:sp>
        <p:nvSpPr>
          <p:cNvPr id="4" name="object 4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89742" y="1235885"/>
            <a:ext cx="5165197" cy="26794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48585" y="0"/>
            <a:ext cx="4377055" cy="1418590"/>
            <a:chOff x="2148585" y="0"/>
            <a:chExt cx="4377055" cy="1418590"/>
          </a:xfrm>
        </p:grpSpPr>
        <p:sp>
          <p:nvSpPr>
            <p:cNvPr id="3" name="object 3"/>
            <p:cNvSpPr/>
            <p:nvPr/>
          </p:nvSpPr>
          <p:spPr>
            <a:xfrm>
              <a:off x="2148585" y="0"/>
              <a:ext cx="4376771" cy="390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1487" y="298704"/>
              <a:ext cx="3141726" cy="111937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72815" y="-164528"/>
            <a:ext cx="442468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72819" marR="5080" indent="-960119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MODELO</a:t>
            </a:r>
            <a:r>
              <a:rPr spc="-75" dirty="0"/>
              <a:t> </a:t>
            </a:r>
            <a:r>
              <a:rPr spc="-5" dirty="0"/>
              <a:t>UNIFIED  </a:t>
            </a:r>
            <a:r>
              <a:rPr spc="-10" dirty="0"/>
              <a:t>PROCESS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066800" y="1221676"/>
            <a:ext cx="6263640" cy="3945890"/>
            <a:chOff x="1225296" y="1179575"/>
            <a:chExt cx="6263640" cy="3945890"/>
          </a:xfrm>
        </p:grpSpPr>
        <p:sp>
          <p:nvSpPr>
            <p:cNvPr id="7" name="object 7"/>
            <p:cNvSpPr/>
            <p:nvPr/>
          </p:nvSpPr>
          <p:spPr>
            <a:xfrm>
              <a:off x="6524283" y="4648249"/>
              <a:ext cx="339773" cy="41595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54596" y="4643628"/>
              <a:ext cx="434340" cy="42519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22263" y="4622291"/>
              <a:ext cx="431291" cy="50292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43730" y="4622291"/>
              <a:ext cx="382719" cy="4998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25296" y="1179575"/>
              <a:ext cx="5829300" cy="346405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48585" y="200429"/>
            <a:ext cx="4377055" cy="1443355"/>
            <a:chOff x="2148585" y="200429"/>
            <a:chExt cx="4377055" cy="1443355"/>
          </a:xfrm>
        </p:grpSpPr>
        <p:sp>
          <p:nvSpPr>
            <p:cNvPr id="3" name="object 3"/>
            <p:cNvSpPr/>
            <p:nvPr/>
          </p:nvSpPr>
          <p:spPr>
            <a:xfrm>
              <a:off x="2148585" y="200429"/>
              <a:ext cx="4376771" cy="4145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1487" y="524255"/>
              <a:ext cx="3141726" cy="111937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70660" y="285750"/>
            <a:ext cx="7269480" cy="9941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1150" marR="5080" indent="-960119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MODELO</a:t>
            </a:r>
            <a:r>
              <a:rPr spc="-75" dirty="0"/>
              <a:t> </a:t>
            </a:r>
            <a:r>
              <a:rPr spc="-5" dirty="0"/>
              <a:t>UNIFIED  </a:t>
            </a:r>
            <a:r>
              <a:rPr spc="-10" dirty="0"/>
              <a:t>PROCESS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470660" y="1595627"/>
            <a:ext cx="6018530" cy="3529965"/>
            <a:chOff x="1470660" y="1595627"/>
            <a:chExt cx="6018530" cy="3529965"/>
          </a:xfrm>
        </p:grpSpPr>
        <p:sp>
          <p:nvSpPr>
            <p:cNvPr id="7" name="object 7"/>
            <p:cNvSpPr/>
            <p:nvPr/>
          </p:nvSpPr>
          <p:spPr>
            <a:xfrm>
              <a:off x="6524282" y="4648249"/>
              <a:ext cx="339773" cy="41595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54595" y="4643627"/>
              <a:ext cx="434340" cy="42519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22263" y="4622292"/>
              <a:ext cx="431291" cy="50292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43730" y="4622292"/>
              <a:ext cx="382719" cy="4998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70660" y="1595627"/>
              <a:ext cx="5801868" cy="302056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51316" y="222573"/>
            <a:ext cx="4734598" cy="599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50899" y="768760"/>
            <a:ext cx="5724144" cy="18211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59433" y="2536317"/>
            <a:ext cx="5515610" cy="2084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Crystal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es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una metodología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de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desarrollo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de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software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ágil,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aunque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más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bien se 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la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considera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un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conjunto de metodologías 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para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el desarrollo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de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software  caracterizadas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por 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estar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centradas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en las personas que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forman parte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del  equipo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y en la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reducción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al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máximo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de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número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de </a:t>
            </a:r>
            <a:r>
              <a:rPr sz="1350" b="1" spc="-15" dirty="0">
                <a:solidFill>
                  <a:srgbClr val="001F5F"/>
                </a:solidFill>
                <a:latin typeface="Carlito"/>
                <a:cs typeface="Carlito"/>
              </a:rPr>
              <a:t>artefactos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producidos.  El equipo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de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desarrollo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se 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considera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un 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factor clave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en 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esta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metodología, por 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lo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que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se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deben invertir 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esfuerzos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en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mejorar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las habilidades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y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destrezas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,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así  como tener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políticas de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trabajo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en equipo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bien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definidas. 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Estas 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políticas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dependerán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del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número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de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personas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que 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formen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el equipo,  estableciéndose una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clasificación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por colores, por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ejemplo </a:t>
            </a:r>
            <a:r>
              <a:rPr sz="1350" b="1" spc="-10" dirty="0">
                <a:solidFill>
                  <a:srgbClr val="001F5F"/>
                </a:solidFill>
                <a:latin typeface="Carlito"/>
                <a:cs typeface="Carlito"/>
              </a:rPr>
              <a:t>Crystal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Clear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(3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a 8  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personas,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es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decir </a:t>
            </a:r>
            <a:r>
              <a:rPr sz="1350" b="1" spc="-5" dirty="0">
                <a:solidFill>
                  <a:srgbClr val="001F5F"/>
                </a:solidFill>
                <a:latin typeface="Carlito"/>
                <a:cs typeface="Carlito"/>
              </a:rPr>
              <a:t>proyectos </a:t>
            </a:r>
            <a:r>
              <a:rPr sz="1350" b="1" dirty="0">
                <a:solidFill>
                  <a:srgbClr val="001F5F"/>
                </a:solidFill>
                <a:latin typeface="Carlito"/>
                <a:cs typeface="Carlito"/>
              </a:rPr>
              <a:t>pequeños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) y 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Crystal Orange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(25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a 50</a:t>
            </a:r>
            <a:r>
              <a:rPr sz="1350" spc="-5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personas).</a:t>
            </a:r>
            <a:endParaRPr sz="13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95713" y="195392"/>
            <a:ext cx="4871751" cy="599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0517" y="128727"/>
            <a:ext cx="49345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Método Ágil</a:t>
            </a:r>
            <a:r>
              <a:rPr spc="-35" dirty="0"/>
              <a:t> </a:t>
            </a:r>
            <a:r>
              <a:rPr spc="-5" dirty="0"/>
              <a:t>SCRUM</a:t>
            </a:r>
          </a:p>
        </p:txBody>
      </p:sp>
      <p:sp>
        <p:nvSpPr>
          <p:cNvPr id="4" name="object 4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74495" y="1005839"/>
            <a:ext cx="5548906" cy="339032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6243" y="143255"/>
            <a:ext cx="5720715" cy="761365"/>
            <a:chOff x="1586243" y="143255"/>
            <a:chExt cx="5720715" cy="761365"/>
          </a:xfrm>
        </p:grpSpPr>
        <p:sp>
          <p:nvSpPr>
            <p:cNvPr id="3" name="object 3"/>
            <p:cNvSpPr/>
            <p:nvPr/>
          </p:nvSpPr>
          <p:spPr>
            <a:xfrm>
              <a:off x="1586243" y="275447"/>
              <a:ext cx="3293078" cy="4148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60391" y="143255"/>
              <a:ext cx="566153" cy="76123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73751" y="143255"/>
              <a:ext cx="2433066" cy="76123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32382" y="742899"/>
            <a:ext cx="5345430" cy="386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875" indent="-25781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70510" algn="l"/>
              </a:tabLst>
            </a:pPr>
            <a:r>
              <a:rPr sz="1800" spc="-5" dirty="0">
                <a:latin typeface="Carlito"/>
                <a:cs typeface="Carlito"/>
              </a:rPr>
              <a:t>Privilegiar </a:t>
            </a:r>
            <a:r>
              <a:rPr sz="1800" dirty="0">
                <a:latin typeface="Carlito"/>
                <a:cs typeface="Carlito"/>
              </a:rPr>
              <a:t>el </a:t>
            </a:r>
            <a:r>
              <a:rPr sz="1800" spc="-10" dirty="0">
                <a:latin typeface="Carlito"/>
                <a:cs typeface="Carlito"/>
              </a:rPr>
              <a:t>valor </a:t>
            </a:r>
            <a:r>
              <a:rPr sz="1800" spc="-5" dirty="0">
                <a:latin typeface="Carlito"/>
                <a:cs typeface="Carlito"/>
              </a:rPr>
              <a:t>de </a:t>
            </a:r>
            <a:r>
              <a:rPr sz="1800" dirty="0">
                <a:latin typeface="Carlito"/>
                <a:cs typeface="Carlito"/>
              </a:rPr>
              <a:t>la </a:t>
            </a:r>
            <a:r>
              <a:rPr sz="1800" spc="-10" dirty="0">
                <a:latin typeface="Carlito"/>
                <a:cs typeface="Carlito"/>
              </a:rPr>
              <a:t>gente sobre </a:t>
            </a:r>
            <a:r>
              <a:rPr sz="1800" dirty="0">
                <a:latin typeface="Carlito"/>
                <a:cs typeface="Carlito"/>
              </a:rPr>
              <a:t>el </a:t>
            </a:r>
            <a:r>
              <a:rPr sz="1800" spc="-10" dirty="0">
                <a:latin typeface="Carlito"/>
                <a:cs typeface="Carlito"/>
              </a:rPr>
              <a:t>valor </a:t>
            </a:r>
            <a:r>
              <a:rPr sz="1800" spc="-5" dirty="0">
                <a:latin typeface="Carlito"/>
                <a:cs typeface="Carlito"/>
              </a:rPr>
              <a:t>de</a:t>
            </a:r>
            <a:r>
              <a:rPr sz="1800" spc="7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los</a:t>
            </a:r>
            <a:endParaRPr sz="1800" dirty="0">
              <a:latin typeface="Carlito"/>
              <a:cs typeface="Carlito"/>
            </a:endParaRPr>
          </a:p>
          <a:p>
            <a:pPr marL="26987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rlito"/>
                <a:cs typeface="Carlito"/>
              </a:rPr>
              <a:t>procesos.</a:t>
            </a:r>
            <a:endParaRPr sz="18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 dirty="0">
              <a:latin typeface="Carlito"/>
              <a:cs typeface="Carlito"/>
            </a:endParaRPr>
          </a:p>
          <a:p>
            <a:pPr marL="269875" indent="-257810">
              <a:lnSpc>
                <a:spcPct val="100000"/>
              </a:lnSpc>
              <a:buFont typeface="Wingdings"/>
              <a:buChar char=""/>
              <a:tabLst>
                <a:tab pos="270510" algn="l"/>
              </a:tabLst>
            </a:pPr>
            <a:r>
              <a:rPr sz="1800" spc="-10" dirty="0">
                <a:latin typeface="Carlito"/>
                <a:cs typeface="Carlito"/>
              </a:rPr>
              <a:t>Entregar software </a:t>
            </a:r>
            <a:r>
              <a:rPr sz="1800" spc="-5" dirty="0">
                <a:latin typeface="Carlito"/>
                <a:cs typeface="Carlito"/>
              </a:rPr>
              <a:t>funcional lo </a:t>
            </a:r>
            <a:r>
              <a:rPr sz="1800" dirty="0">
                <a:latin typeface="Carlito"/>
                <a:cs typeface="Carlito"/>
              </a:rPr>
              <a:t>más </a:t>
            </a:r>
            <a:r>
              <a:rPr sz="1800" spc="-15" dirty="0">
                <a:latin typeface="Carlito"/>
                <a:cs typeface="Carlito"/>
              </a:rPr>
              <a:t>pronto</a:t>
            </a:r>
            <a:r>
              <a:rPr sz="1800" spc="2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posible.</a:t>
            </a:r>
            <a:endParaRPr sz="18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"/>
            </a:pPr>
            <a:endParaRPr sz="1750" dirty="0">
              <a:latin typeface="Carlito"/>
              <a:cs typeface="Carlito"/>
            </a:endParaRPr>
          </a:p>
          <a:p>
            <a:pPr marL="269875" indent="-25781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270510" algn="l"/>
              </a:tabLst>
            </a:pPr>
            <a:r>
              <a:rPr sz="1800" spc="-10" dirty="0">
                <a:latin typeface="Carlito"/>
                <a:cs typeface="Carlito"/>
              </a:rPr>
              <a:t>Predisposición </a:t>
            </a:r>
            <a:r>
              <a:rPr sz="1800" dirty="0">
                <a:latin typeface="Carlito"/>
                <a:cs typeface="Carlito"/>
              </a:rPr>
              <a:t>y </a:t>
            </a:r>
            <a:r>
              <a:rPr sz="1800" spc="-10" dirty="0">
                <a:latin typeface="Carlito"/>
                <a:cs typeface="Carlito"/>
              </a:rPr>
              <a:t>respuesta </a:t>
            </a:r>
            <a:r>
              <a:rPr sz="1800" dirty="0">
                <a:latin typeface="Carlito"/>
                <a:cs typeface="Carlito"/>
              </a:rPr>
              <a:t>al</a:t>
            </a:r>
            <a:r>
              <a:rPr sz="1800" spc="2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cambio.</a:t>
            </a:r>
            <a:endParaRPr sz="18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"/>
            </a:pPr>
            <a:endParaRPr sz="1750" dirty="0">
              <a:latin typeface="Carlito"/>
              <a:cs typeface="Carlito"/>
            </a:endParaRPr>
          </a:p>
          <a:p>
            <a:pPr marL="269875" indent="-257810">
              <a:lnSpc>
                <a:spcPct val="100000"/>
              </a:lnSpc>
              <a:buFont typeface="Wingdings"/>
              <a:buChar char=""/>
              <a:tabLst>
                <a:tab pos="270510" algn="l"/>
              </a:tabLst>
            </a:pPr>
            <a:r>
              <a:rPr sz="1800" spc="-10" dirty="0">
                <a:latin typeface="Carlito"/>
                <a:cs typeface="Carlito"/>
              </a:rPr>
              <a:t>Fortalecer </a:t>
            </a:r>
            <a:r>
              <a:rPr sz="1800" spc="-5" dirty="0">
                <a:latin typeface="Carlito"/>
                <a:cs typeface="Carlito"/>
              </a:rPr>
              <a:t>la </a:t>
            </a:r>
            <a:r>
              <a:rPr sz="1800" spc="-10" dirty="0">
                <a:latin typeface="Carlito"/>
                <a:cs typeface="Carlito"/>
              </a:rPr>
              <a:t>comunicación </a:t>
            </a:r>
            <a:r>
              <a:rPr sz="1800" dirty="0">
                <a:latin typeface="Carlito"/>
                <a:cs typeface="Carlito"/>
              </a:rPr>
              <a:t>y </a:t>
            </a:r>
            <a:r>
              <a:rPr sz="1800" spc="-5" dirty="0">
                <a:latin typeface="Carlito"/>
                <a:cs typeface="Carlito"/>
              </a:rPr>
              <a:t>la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colaboración.</a:t>
            </a:r>
            <a:endParaRPr sz="18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"/>
            </a:pPr>
            <a:endParaRPr sz="1750" dirty="0">
              <a:latin typeface="Carlito"/>
              <a:cs typeface="Carlito"/>
            </a:endParaRPr>
          </a:p>
          <a:p>
            <a:pPr marL="269875" marR="7620" indent="-25781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270510" algn="l"/>
              </a:tabLst>
            </a:pPr>
            <a:r>
              <a:rPr sz="1800" spc="-5" dirty="0">
                <a:latin typeface="Carlito"/>
                <a:cs typeface="Carlito"/>
              </a:rPr>
              <a:t>Comunicación verbal </a:t>
            </a:r>
            <a:r>
              <a:rPr sz="1800" spc="-15" dirty="0">
                <a:latin typeface="Carlito"/>
                <a:cs typeface="Carlito"/>
              </a:rPr>
              <a:t>directa </a:t>
            </a:r>
            <a:r>
              <a:rPr sz="1800" spc="-10" dirty="0">
                <a:latin typeface="Carlito"/>
                <a:cs typeface="Carlito"/>
              </a:rPr>
              <a:t>entre </a:t>
            </a:r>
            <a:r>
              <a:rPr sz="1800" spc="-5" dirty="0">
                <a:latin typeface="Carlito"/>
                <a:cs typeface="Carlito"/>
              </a:rPr>
              <a:t>los implicados </a:t>
            </a:r>
            <a:r>
              <a:rPr sz="1800" dirty="0">
                <a:latin typeface="Carlito"/>
                <a:cs typeface="Carlito"/>
              </a:rPr>
              <a:t>en el  </a:t>
            </a:r>
            <a:r>
              <a:rPr sz="1800" spc="-15" dirty="0">
                <a:latin typeface="Carlito"/>
                <a:cs typeface="Carlito"/>
              </a:rPr>
              <a:t>proyecto.</a:t>
            </a:r>
            <a:endParaRPr sz="18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"/>
            </a:pPr>
            <a:endParaRPr sz="1750" dirty="0">
              <a:latin typeface="Carlito"/>
              <a:cs typeface="Carlito"/>
            </a:endParaRPr>
          </a:p>
          <a:p>
            <a:pPr marL="269875" marR="5080" indent="-257810">
              <a:lnSpc>
                <a:spcPct val="100000"/>
              </a:lnSpc>
              <a:buFont typeface="Wingdings"/>
              <a:buChar char=""/>
              <a:tabLst>
                <a:tab pos="270510" algn="l"/>
              </a:tabLst>
            </a:pPr>
            <a:r>
              <a:rPr sz="1800" spc="-5" dirty="0">
                <a:latin typeface="Carlito"/>
                <a:cs typeface="Carlito"/>
              </a:rPr>
              <a:t>Simplicidad; supresión </a:t>
            </a:r>
            <a:r>
              <a:rPr sz="1800" dirty="0">
                <a:latin typeface="Carlito"/>
                <a:cs typeface="Carlito"/>
              </a:rPr>
              <a:t>de </a:t>
            </a:r>
            <a:r>
              <a:rPr sz="1800" spc="-10" dirty="0">
                <a:latin typeface="Carlito"/>
                <a:cs typeface="Carlito"/>
              </a:rPr>
              <a:t>artefactos </a:t>
            </a:r>
            <a:r>
              <a:rPr sz="1800" spc="-5" dirty="0">
                <a:latin typeface="Carlito"/>
                <a:cs typeface="Carlito"/>
              </a:rPr>
              <a:t>innecesarios </a:t>
            </a:r>
            <a:r>
              <a:rPr sz="1800" dirty="0">
                <a:latin typeface="Carlito"/>
                <a:cs typeface="Carlito"/>
              </a:rPr>
              <a:t>en </a:t>
            </a:r>
            <a:r>
              <a:rPr sz="1800" spc="-5" dirty="0">
                <a:latin typeface="Carlito"/>
                <a:cs typeface="Carlito"/>
              </a:rPr>
              <a:t>la  </a:t>
            </a:r>
            <a:r>
              <a:rPr sz="1800" spc="-10" dirty="0">
                <a:latin typeface="Carlito"/>
                <a:cs typeface="Carlito"/>
              </a:rPr>
              <a:t>gestión </a:t>
            </a:r>
            <a:r>
              <a:rPr sz="1800" dirty="0">
                <a:latin typeface="Carlito"/>
                <a:cs typeface="Carlito"/>
              </a:rPr>
              <a:t>del</a:t>
            </a:r>
            <a:r>
              <a:rPr sz="1800" spc="10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proyecto.</a:t>
            </a:r>
            <a:endParaRPr sz="1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76474" y="275447"/>
            <a:ext cx="3114785" cy="346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40914" y="232359"/>
            <a:ext cx="314960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/>
              <a:t>METODOLOGÍA</a:t>
            </a:r>
            <a:r>
              <a:rPr sz="2700" spc="-150" dirty="0"/>
              <a:t> </a:t>
            </a:r>
            <a:r>
              <a:rPr sz="2700" dirty="0"/>
              <a:t>XP</a:t>
            </a:r>
            <a:endParaRPr sz="2700"/>
          </a:p>
        </p:txBody>
      </p:sp>
      <p:sp>
        <p:nvSpPr>
          <p:cNvPr id="4" name="object 4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89303" y="661416"/>
            <a:ext cx="6293917" cy="38206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76474" y="275447"/>
            <a:ext cx="3114785" cy="346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10411" y="867917"/>
            <a:ext cx="546163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algn="just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rlito"/>
                <a:cs typeface="Carlito"/>
              </a:rPr>
              <a:t>Un </a:t>
            </a:r>
            <a:r>
              <a:rPr sz="1200" spc="-10" dirty="0">
                <a:latin typeface="Carlito"/>
                <a:cs typeface="Carlito"/>
              </a:rPr>
              <a:t>proyecto </a:t>
            </a:r>
            <a:r>
              <a:rPr sz="1200" dirty="0">
                <a:latin typeface="Carlito"/>
                <a:cs typeface="Carlito"/>
              </a:rPr>
              <a:t>XP </a:t>
            </a:r>
            <a:r>
              <a:rPr sz="1200" spc="-5" dirty="0">
                <a:latin typeface="Carlito"/>
                <a:cs typeface="Carlito"/>
              </a:rPr>
              <a:t>tiene éxito cuando </a:t>
            </a:r>
            <a:r>
              <a:rPr sz="1200" dirty="0">
                <a:latin typeface="Carlito"/>
                <a:cs typeface="Carlito"/>
              </a:rPr>
              <a:t>el </a:t>
            </a:r>
            <a:r>
              <a:rPr sz="1200" spc="-5" dirty="0">
                <a:latin typeface="Carlito"/>
                <a:cs typeface="Carlito"/>
              </a:rPr>
              <a:t>cliente selecciona </a:t>
            </a:r>
            <a:r>
              <a:rPr sz="1200" dirty="0">
                <a:latin typeface="Carlito"/>
                <a:cs typeface="Carlito"/>
              </a:rPr>
              <a:t>el </a:t>
            </a:r>
            <a:r>
              <a:rPr sz="1200" spc="-5" dirty="0">
                <a:latin typeface="Carlito"/>
                <a:cs typeface="Carlito"/>
              </a:rPr>
              <a:t>valor de negocio </a:t>
            </a:r>
            <a:r>
              <a:rPr sz="1200" dirty="0">
                <a:latin typeface="Carlito"/>
                <a:cs typeface="Carlito"/>
              </a:rPr>
              <a:t>a  </a:t>
            </a:r>
            <a:r>
              <a:rPr sz="1200" spc="-5" dirty="0">
                <a:latin typeface="Carlito"/>
                <a:cs typeface="Carlito"/>
              </a:rPr>
              <a:t>implementar </a:t>
            </a:r>
            <a:r>
              <a:rPr sz="1200" b="1" spc="-5" dirty="0">
                <a:latin typeface="Carlito"/>
                <a:cs typeface="Carlito"/>
              </a:rPr>
              <a:t>basado en </a:t>
            </a:r>
            <a:r>
              <a:rPr sz="1200" b="1" dirty="0">
                <a:latin typeface="Carlito"/>
                <a:cs typeface="Carlito"/>
              </a:rPr>
              <a:t>la </a:t>
            </a:r>
            <a:r>
              <a:rPr sz="1200" b="1" spc="-5" dirty="0">
                <a:latin typeface="Carlito"/>
                <a:cs typeface="Carlito"/>
              </a:rPr>
              <a:t>habilidad del equipo </a:t>
            </a:r>
            <a:r>
              <a:rPr sz="1200" spc="-10" dirty="0">
                <a:latin typeface="Carlito"/>
                <a:cs typeface="Carlito"/>
              </a:rPr>
              <a:t>para </a:t>
            </a:r>
            <a:r>
              <a:rPr sz="1200" dirty="0">
                <a:latin typeface="Carlito"/>
                <a:cs typeface="Carlito"/>
              </a:rPr>
              <a:t>medir la </a:t>
            </a:r>
            <a:r>
              <a:rPr sz="1200" spc="-5" dirty="0">
                <a:latin typeface="Carlito"/>
                <a:cs typeface="Carlito"/>
              </a:rPr>
              <a:t>funcionalidad que puede  </a:t>
            </a:r>
            <a:r>
              <a:rPr sz="1200" spc="-10" dirty="0">
                <a:latin typeface="Carlito"/>
                <a:cs typeface="Carlito"/>
              </a:rPr>
              <a:t>entregar </a:t>
            </a:r>
            <a:r>
              <a:rPr sz="1200" dirty="0">
                <a:latin typeface="Carlito"/>
                <a:cs typeface="Carlito"/>
              </a:rPr>
              <a:t>a </a:t>
            </a:r>
            <a:r>
              <a:rPr sz="1200" spc="-15" dirty="0">
                <a:latin typeface="Carlito"/>
                <a:cs typeface="Carlito"/>
              </a:rPr>
              <a:t>través </a:t>
            </a:r>
            <a:r>
              <a:rPr sz="1200" dirty="0">
                <a:latin typeface="Carlito"/>
                <a:cs typeface="Carlito"/>
              </a:rPr>
              <a:t>del </a:t>
            </a:r>
            <a:r>
              <a:rPr sz="1200" spc="-5" dirty="0">
                <a:latin typeface="Carlito"/>
                <a:cs typeface="Carlito"/>
              </a:rPr>
              <a:t>tiempo. </a:t>
            </a:r>
            <a:r>
              <a:rPr sz="1200" dirty="0">
                <a:latin typeface="Carlito"/>
                <a:cs typeface="Carlito"/>
              </a:rPr>
              <a:t>El </a:t>
            </a:r>
            <a:r>
              <a:rPr sz="1200" spc="-5" dirty="0">
                <a:latin typeface="Carlito"/>
                <a:cs typeface="Carlito"/>
              </a:rPr>
              <a:t>ciclo </a:t>
            </a:r>
            <a:r>
              <a:rPr sz="1200" dirty="0">
                <a:latin typeface="Carlito"/>
                <a:cs typeface="Carlito"/>
              </a:rPr>
              <a:t>de </a:t>
            </a:r>
            <a:r>
              <a:rPr sz="1200" spc="-5" dirty="0">
                <a:latin typeface="Carlito"/>
                <a:cs typeface="Carlito"/>
              </a:rPr>
              <a:t>desarrollo </a:t>
            </a:r>
            <a:r>
              <a:rPr sz="1200" spc="-10" dirty="0">
                <a:latin typeface="Carlito"/>
                <a:cs typeface="Carlito"/>
              </a:rPr>
              <a:t>consiste </a:t>
            </a:r>
            <a:r>
              <a:rPr sz="1200" spc="-5" dirty="0">
                <a:latin typeface="Carlito"/>
                <a:cs typeface="Carlito"/>
              </a:rPr>
              <a:t>(a grandes </a:t>
            </a:r>
            <a:r>
              <a:rPr sz="1200" spc="-10" dirty="0">
                <a:latin typeface="Carlito"/>
                <a:cs typeface="Carlito"/>
              </a:rPr>
              <a:t>rasgos) </a:t>
            </a:r>
            <a:r>
              <a:rPr sz="1200" dirty="0">
                <a:latin typeface="Carlito"/>
                <a:cs typeface="Carlito"/>
              </a:rPr>
              <a:t>en </a:t>
            </a:r>
            <a:r>
              <a:rPr sz="1200" spc="5" dirty="0">
                <a:latin typeface="Carlito"/>
                <a:cs typeface="Carlito"/>
              </a:rPr>
              <a:t>los </a:t>
            </a:r>
            <a:r>
              <a:rPr sz="1200" spc="280" dirty="0">
                <a:latin typeface="Carlito"/>
                <a:cs typeface="Carlito"/>
              </a:rPr>
              <a:t> </a:t>
            </a:r>
            <a:r>
              <a:rPr sz="1200" spc="-5" dirty="0">
                <a:latin typeface="Carlito"/>
                <a:cs typeface="Carlito"/>
              </a:rPr>
              <a:t>siguientes </a:t>
            </a:r>
            <a:r>
              <a:rPr sz="1200" dirty="0">
                <a:latin typeface="Carlito"/>
                <a:cs typeface="Carlito"/>
              </a:rPr>
              <a:t>pasos</a:t>
            </a:r>
            <a:r>
              <a:rPr sz="1200" spc="-15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:</a:t>
            </a:r>
            <a:endParaRPr sz="1200">
              <a:latin typeface="Carlito"/>
              <a:cs typeface="Carlito"/>
            </a:endParaRPr>
          </a:p>
          <a:p>
            <a:pPr marL="269875" indent="-257810" algn="just">
              <a:lnSpc>
                <a:spcPct val="100000"/>
              </a:lnSpc>
              <a:buAutoNum type="arabicPeriod"/>
              <a:tabLst>
                <a:tab pos="270510" algn="l"/>
              </a:tabLst>
            </a:pPr>
            <a:r>
              <a:rPr sz="1200" dirty="0">
                <a:latin typeface="Carlito"/>
                <a:cs typeface="Carlito"/>
              </a:rPr>
              <a:t>El </a:t>
            </a:r>
            <a:r>
              <a:rPr sz="1200" spc="-5" dirty="0">
                <a:latin typeface="Carlito"/>
                <a:cs typeface="Carlito"/>
              </a:rPr>
              <a:t>cliente define </a:t>
            </a:r>
            <a:r>
              <a:rPr sz="1200" dirty="0">
                <a:latin typeface="Carlito"/>
                <a:cs typeface="Carlito"/>
              </a:rPr>
              <a:t>el </a:t>
            </a:r>
            <a:r>
              <a:rPr sz="1200" spc="-5" dirty="0">
                <a:latin typeface="Carlito"/>
                <a:cs typeface="Carlito"/>
              </a:rPr>
              <a:t>valor </a:t>
            </a:r>
            <a:r>
              <a:rPr sz="1200" dirty="0">
                <a:latin typeface="Carlito"/>
                <a:cs typeface="Carlito"/>
              </a:rPr>
              <a:t>de </a:t>
            </a:r>
            <a:r>
              <a:rPr sz="1200" spc="-5" dirty="0">
                <a:latin typeface="Carlito"/>
                <a:cs typeface="Carlito"/>
              </a:rPr>
              <a:t>negocio </a:t>
            </a:r>
            <a:r>
              <a:rPr sz="1200" dirty="0">
                <a:latin typeface="Carlito"/>
                <a:cs typeface="Carlito"/>
              </a:rPr>
              <a:t>a</a:t>
            </a:r>
            <a:r>
              <a:rPr sz="1200" spc="-35" dirty="0">
                <a:latin typeface="Carlito"/>
                <a:cs typeface="Carlito"/>
              </a:rPr>
              <a:t> </a:t>
            </a:r>
            <a:r>
              <a:rPr sz="1200" spc="-15" dirty="0">
                <a:latin typeface="Carlito"/>
                <a:cs typeface="Carlito"/>
              </a:rPr>
              <a:t>implementar.</a:t>
            </a:r>
            <a:endParaRPr sz="1200">
              <a:latin typeface="Carlito"/>
              <a:cs typeface="Carlito"/>
            </a:endParaRPr>
          </a:p>
          <a:p>
            <a:pPr marL="269875" indent="-257810" algn="just">
              <a:lnSpc>
                <a:spcPct val="100000"/>
              </a:lnSpc>
              <a:buAutoNum type="arabicPeriod"/>
              <a:tabLst>
                <a:tab pos="270510" algn="l"/>
              </a:tabLst>
            </a:pPr>
            <a:r>
              <a:rPr sz="1200" dirty="0">
                <a:latin typeface="Carlito"/>
                <a:cs typeface="Carlito"/>
              </a:rPr>
              <a:t>El </a:t>
            </a:r>
            <a:r>
              <a:rPr sz="1200" spc="-10" dirty="0">
                <a:latin typeface="Carlito"/>
                <a:cs typeface="Carlito"/>
              </a:rPr>
              <a:t>programador </a:t>
            </a:r>
            <a:r>
              <a:rPr sz="1200" spc="-5" dirty="0">
                <a:latin typeface="Carlito"/>
                <a:cs typeface="Carlito"/>
              </a:rPr>
              <a:t>estima </a:t>
            </a:r>
            <a:r>
              <a:rPr sz="1200" dirty="0">
                <a:latin typeface="Carlito"/>
                <a:cs typeface="Carlito"/>
              </a:rPr>
              <a:t>el </a:t>
            </a:r>
            <a:r>
              <a:rPr sz="1200" spc="-5" dirty="0">
                <a:latin typeface="Carlito"/>
                <a:cs typeface="Carlito"/>
              </a:rPr>
              <a:t>esfuerzo </a:t>
            </a:r>
            <a:r>
              <a:rPr sz="1200" dirty="0">
                <a:latin typeface="Carlito"/>
                <a:cs typeface="Carlito"/>
              </a:rPr>
              <a:t>necesario </a:t>
            </a:r>
            <a:r>
              <a:rPr sz="1200" spc="-10" dirty="0">
                <a:latin typeface="Carlito"/>
                <a:cs typeface="Carlito"/>
              </a:rPr>
              <a:t>para </a:t>
            </a:r>
            <a:r>
              <a:rPr sz="1200" spc="-5" dirty="0">
                <a:latin typeface="Carlito"/>
                <a:cs typeface="Carlito"/>
              </a:rPr>
              <a:t>su implementación.</a:t>
            </a:r>
            <a:endParaRPr sz="1200">
              <a:latin typeface="Carlito"/>
              <a:cs typeface="Carlito"/>
            </a:endParaRPr>
          </a:p>
          <a:p>
            <a:pPr marL="269875" marR="6350" indent="-257810" algn="just">
              <a:lnSpc>
                <a:spcPct val="100000"/>
              </a:lnSpc>
              <a:buAutoNum type="arabicPeriod"/>
              <a:tabLst>
                <a:tab pos="270510" algn="l"/>
              </a:tabLst>
            </a:pPr>
            <a:r>
              <a:rPr sz="1200" dirty="0">
                <a:latin typeface="Carlito"/>
                <a:cs typeface="Carlito"/>
              </a:rPr>
              <a:t>El </a:t>
            </a:r>
            <a:r>
              <a:rPr sz="1200" spc="-5" dirty="0">
                <a:latin typeface="Carlito"/>
                <a:cs typeface="Carlito"/>
              </a:rPr>
              <a:t>cliente selecciona qué </a:t>
            </a:r>
            <a:r>
              <a:rPr sz="1200" spc="-20" dirty="0">
                <a:latin typeface="Carlito"/>
                <a:cs typeface="Carlito"/>
              </a:rPr>
              <a:t>construir, </a:t>
            </a:r>
            <a:r>
              <a:rPr sz="1200" dirty="0">
                <a:latin typeface="Carlito"/>
                <a:cs typeface="Carlito"/>
              </a:rPr>
              <a:t>de </a:t>
            </a:r>
            <a:r>
              <a:rPr sz="1200" spc="-5" dirty="0">
                <a:latin typeface="Carlito"/>
                <a:cs typeface="Carlito"/>
              </a:rPr>
              <a:t>acuerdo </a:t>
            </a:r>
            <a:r>
              <a:rPr sz="1200" spc="-10" dirty="0">
                <a:latin typeface="Carlito"/>
                <a:cs typeface="Carlito"/>
              </a:rPr>
              <a:t>con </a:t>
            </a:r>
            <a:r>
              <a:rPr sz="1200" spc="-5" dirty="0">
                <a:latin typeface="Carlito"/>
                <a:cs typeface="Carlito"/>
              </a:rPr>
              <a:t>sus prioridades </a:t>
            </a:r>
            <a:r>
              <a:rPr sz="1200" dirty="0">
                <a:latin typeface="Carlito"/>
                <a:cs typeface="Carlito"/>
              </a:rPr>
              <a:t>y las  </a:t>
            </a:r>
            <a:r>
              <a:rPr sz="1200" spc="-5" dirty="0">
                <a:latin typeface="Carlito"/>
                <a:cs typeface="Carlito"/>
              </a:rPr>
              <a:t>restricciones </a:t>
            </a:r>
            <a:r>
              <a:rPr sz="1200" dirty="0">
                <a:latin typeface="Carlito"/>
                <a:cs typeface="Carlito"/>
              </a:rPr>
              <a:t>de</a:t>
            </a:r>
            <a:r>
              <a:rPr sz="1200" spc="-10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tiempo.</a:t>
            </a:r>
            <a:endParaRPr sz="1200">
              <a:latin typeface="Carlito"/>
              <a:cs typeface="Carlito"/>
            </a:endParaRPr>
          </a:p>
          <a:p>
            <a:pPr marL="12700" marR="2242185" algn="just">
              <a:lnSpc>
                <a:spcPct val="100000"/>
              </a:lnSpc>
              <a:buAutoNum type="arabicPeriod"/>
              <a:tabLst>
                <a:tab pos="270510" algn="l"/>
              </a:tabLst>
            </a:pPr>
            <a:r>
              <a:rPr sz="1200" dirty="0">
                <a:latin typeface="Carlito"/>
                <a:cs typeface="Carlito"/>
              </a:rPr>
              <a:t>El </a:t>
            </a:r>
            <a:r>
              <a:rPr sz="1200" spc="-10" dirty="0">
                <a:latin typeface="Carlito"/>
                <a:cs typeface="Carlito"/>
              </a:rPr>
              <a:t>programador construye </a:t>
            </a:r>
            <a:r>
              <a:rPr sz="1200" dirty="0">
                <a:latin typeface="Carlito"/>
                <a:cs typeface="Carlito"/>
              </a:rPr>
              <a:t>ese </a:t>
            </a:r>
            <a:r>
              <a:rPr sz="1200" spc="-5" dirty="0">
                <a:latin typeface="Carlito"/>
                <a:cs typeface="Carlito"/>
              </a:rPr>
              <a:t>valor </a:t>
            </a:r>
            <a:r>
              <a:rPr sz="1200" dirty="0">
                <a:latin typeface="Carlito"/>
                <a:cs typeface="Carlito"/>
              </a:rPr>
              <a:t>de </a:t>
            </a:r>
            <a:r>
              <a:rPr sz="1200" spc="-5" dirty="0">
                <a:latin typeface="Carlito"/>
                <a:cs typeface="Carlito"/>
              </a:rPr>
              <a:t>negocio.  </a:t>
            </a:r>
            <a:r>
              <a:rPr sz="1200" spc="-10" dirty="0">
                <a:latin typeface="Carlito"/>
                <a:cs typeface="Carlito"/>
              </a:rPr>
              <a:t>Vuelve </a:t>
            </a:r>
            <a:r>
              <a:rPr sz="1200" dirty="0">
                <a:latin typeface="Carlito"/>
                <a:cs typeface="Carlito"/>
              </a:rPr>
              <a:t>al paso</a:t>
            </a:r>
            <a:r>
              <a:rPr sz="1200" spc="-15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1.</a:t>
            </a:r>
            <a:endParaRPr sz="1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Carlito"/>
              <a:cs typeface="Carlito"/>
            </a:endParaRPr>
          </a:p>
          <a:p>
            <a:pPr marL="12700" marR="5080" algn="just">
              <a:lnSpc>
                <a:spcPct val="100000"/>
              </a:lnSpc>
            </a:pPr>
            <a:r>
              <a:rPr sz="1200" b="1" i="1" dirty="0">
                <a:latin typeface="Carlito"/>
                <a:cs typeface="Carlito"/>
              </a:rPr>
              <a:t>En </a:t>
            </a:r>
            <a:r>
              <a:rPr sz="1200" b="1" i="1" spc="-5" dirty="0">
                <a:latin typeface="Carlito"/>
                <a:cs typeface="Carlito"/>
              </a:rPr>
              <a:t>todas </a:t>
            </a:r>
            <a:r>
              <a:rPr sz="1200" b="1" i="1" dirty="0">
                <a:latin typeface="Carlito"/>
                <a:cs typeface="Carlito"/>
              </a:rPr>
              <a:t>las </a:t>
            </a:r>
            <a:r>
              <a:rPr sz="1200" b="1" i="1" spc="-5" dirty="0">
                <a:latin typeface="Carlito"/>
                <a:cs typeface="Carlito"/>
              </a:rPr>
              <a:t>iteraciones </a:t>
            </a:r>
            <a:r>
              <a:rPr sz="1200" b="1" i="1" dirty="0">
                <a:latin typeface="Carlito"/>
                <a:cs typeface="Carlito"/>
              </a:rPr>
              <a:t>de </a:t>
            </a:r>
            <a:r>
              <a:rPr sz="1200" b="1" i="1" spc="-10" dirty="0">
                <a:latin typeface="Carlito"/>
                <a:cs typeface="Carlito"/>
              </a:rPr>
              <a:t>este </a:t>
            </a:r>
            <a:r>
              <a:rPr sz="1200" b="1" i="1" dirty="0">
                <a:latin typeface="Carlito"/>
                <a:cs typeface="Carlito"/>
              </a:rPr>
              <a:t>ciclo </a:t>
            </a:r>
            <a:r>
              <a:rPr sz="1200" b="1" i="1" spc="-10" dirty="0">
                <a:latin typeface="Carlito"/>
                <a:cs typeface="Carlito"/>
              </a:rPr>
              <a:t>tanto </a:t>
            </a:r>
            <a:r>
              <a:rPr sz="1200" b="1" i="1" spc="-5" dirty="0">
                <a:latin typeface="Carlito"/>
                <a:cs typeface="Carlito"/>
              </a:rPr>
              <a:t>el cliente </a:t>
            </a:r>
            <a:r>
              <a:rPr sz="1200" b="1" i="1" spc="-10" dirty="0">
                <a:latin typeface="Carlito"/>
                <a:cs typeface="Carlito"/>
              </a:rPr>
              <a:t>como </a:t>
            </a:r>
            <a:r>
              <a:rPr sz="1200" b="1" i="1" spc="-5" dirty="0">
                <a:latin typeface="Carlito"/>
                <a:cs typeface="Carlito"/>
              </a:rPr>
              <a:t>el </a:t>
            </a:r>
            <a:r>
              <a:rPr sz="1200" b="1" i="1" dirty="0">
                <a:latin typeface="Carlito"/>
                <a:cs typeface="Carlito"/>
              </a:rPr>
              <a:t>programador </a:t>
            </a:r>
            <a:r>
              <a:rPr sz="1200" b="1" i="1" spc="-5" dirty="0">
                <a:latin typeface="Carlito"/>
                <a:cs typeface="Carlito"/>
              </a:rPr>
              <a:t>aprenden</a:t>
            </a:r>
            <a:r>
              <a:rPr sz="1200" spc="-5" dirty="0">
                <a:latin typeface="Carlito"/>
                <a:cs typeface="Carlito"/>
              </a:rPr>
              <a:t>.  </a:t>
            </a:r>
            <a:r>
              <a:rPr sz="1200" dirty="0">
                <a:latin typeface="Carlito"/>
                <a:cs typeface="Carlito"/>
              </a:rPr>
              <a:t>No </a:t>
            </a:r>
            <a:r>
              <a:rPr sz="1200" spc="-5" dirty="0">
                <a:latin typeface="Carlito"/>
                <a:cs typeface="Carlito"/>
              </a:rPr>
              <a:t>se debe presionar </a:t>
            </a:r>
            <a:r>
              <a:rPr sz="1200" dirty="0">
                <a:latin typeface="Carlito"/>
                <a:cs typeface="Carlito"/>
              </a:rPr>
              <a:t>al </a:t>
            </a:r>
            <a:r>
              <a:rPr sz="1200" spc="-10" dirty="0">
                <a:latin typeface="Carlito"/>
                <a:cs typeface="Carlito"/>
              </a:rPr>
              <a:t>programador </a:t>
            </a:r>
            <a:r>
              <a:rPr sz="1200" dirty="0">
                <a:latin typeface="Carlito"/>
                <a:cs typeface="Carlito"/>
              </a:rPr>
              <a:t>a </a:t>
            </a:r>
            <a:r>
              <a:rPr sz="1200" spc="-5" dirty="0">
                <a:latin typeface="Carlito"/>
                <a:cs typeface="Carlito"/>
              </a:rPr>
              <a:t>realizar </a:t>
            </a:r>
            <a:r>
              <a:rPr sz="1200" dirty="0">
                <a:latin typeface="Carlito"/>
                <a:cs typeface="Carlito"/>
              </a:rPr>
              <a:t>más </a:t>
            </a:r>
            <a:r>
              <a:rPr sz="1200" spc="-10" dirty="0">
                <a:latin typeface="Carlito"/>
                <a:cs typeface="Carlito"/>
              </a:rPr>
              <a:t>trabajo </a:t>
            </a:r>
            <a:r>
              <a:rPr sz="1200" spc="-5" dirty="0">
                <a:latin typeface="Carlito"/>
                <a:cs typeface="Carlito"/>
              </a:rPr>
              <a:t>que </a:t>
            </a:r>
            <a:r>
              <a:rPr sz="1200" dirty="0">
                <a:latin typeface="Carlito"/>
                <a:cs typeface="Carlito"/>
              </a:rPr>
              <a:t>el </a:t>
            </a:r>
            <a:r>
              <a:rPr sz="1200" spc="-5" dirty="0">
                <a:latin typeface="Carlito"/>
                <a:cs typeface="Carlito"/>
              </a:rPr>
              <a:t>estimado, </a:t>
            </a:r>
            <a:r>
              <a:rPr sz="1200" spc="-10" dirty="0">
                <a:latin typeface="Carlito"/>
                <a:cs typeface="Carlito"/>
              </a:rPr>
              <a:t>ya </a:t>
            </a:r>
            <a:r>
              <a:rPr sz="1200" spc="-5" dirty="0">
                <a:latin typeface="Carlito"/>
                <a:cs typeface="Carlito"/>
              </a:rPr>
              <a:t>que se  </a:t>
            </a:r>
            <a:r>
              <a:rPr sz="1200" spc="-10" dirty="0">
                <a:latin typeface="Carlito"/>
                <a:cs typeface="Carlito"/>
              </a:rPr>
              <a:t>perderá </a:t>
            </a:r>
            <a:r>
              <a:rPr sz="1200" spc="-5" dirty="0">
                <a:latin typeface="Carlito"/>
                <a:cs typeface="Carlito"/>
              </a:rPr>
              <a:t>calidad en </a:t>
            </a:r>
            <a:r>
              <a:rPr sz="1200" dirty="0">
                <a:latin typeface="Carlito"/>
                <a:cs typeface="Carlito"/>
              </a:rPr>
              <a:t>el </a:t>
            </a:r>
            <a:r>
              <a:rPr sz="1200" spc="-10" dirty="0">
                <a:latin typeface="Carlito"/>
                <a:cs typeface="Carlito"/>
              </a:rPr>
              <a:t>software </a:t>
            </a:r>
            <a:r>
              <a:rPr sz="1200" dirty="0">
                <a:latin typeface="Carlito"/>
                <a:cs typeface="Carlito"/>
              </a:rPr>
              <a:t>o no </a:t>
            </a:r>
            <a:r>
              <a:rPr sz="1200" spc="-5" dirty="0">
                <a:latin typeface="Carlito"/>
                <a:cs typeface="Carlito"/>
              </a:rPr>
              <a:t>se </a:t>
            </a:r>
            <a:r>
              <a:rPr sz="1200" spc="-10" dirty="0">
                <a:latin typeface="Carlito"/>
                <a:cs typeface="Carlito"/>
              </a:rPr>
              <a:t>cumplirán </a:t>
            </a:r>
            <a:r>
              <a:rPr sz="1200" dirty="0">
                <a:latin typeface="Carlito"/>
                <a:cs typeface="Carlito"/>
              </a:rPr>
              <a:t>los </a:t>
            </a:r>
            <a:r>
              <a:rPr sz="1200" spc="-5" dirty="0">
                <a:latin typeface="Carlito"/>
                <a:cs typeface="Carlito"/>
              </a:rPr>
              <a:t>plazos. </a:t>
            </a:r>
            <a:r>
              <a:rPr sz="1200" dirty="0">
                <a:latin typeface="Carlito"/>
                <a:cs typeface="Carlito"/>
              </a:rPr>
              <a:t>De la </a:t>
            </a:r>
            <a:r>
              <a:rPr sz="1200" spc="-5" dirty="0">
                <a:latin typeface="Carlito"/>
                <a:cs typeface="Carlito"/>
              </a:rPr>
              <a:t>misma forma </a:t>
            </a:r>
            <a:r>
              <a:rPr sz="1200" dirty="0">
                <a:latin typeface="Carlito"/>
                <a:cs typeface="Carlito"/>
              </a:rPr>
              <a:t>el  </a:t>
            </a:r>
            <a:r>
              <a:rPr sz="1200" spc="-5" dirty="0">
                <a:latin typeface="Carlito"/>
                <a:cs typeface="Carlito"/>
              </a:rPr>
              <a:t>cliente tiene </a:t>
            </a:r>
            <a:r>
              <a:rPr sz="1200" dirty="0">
                <a:latin typeface="Carlito"/>
                <a:cs typeface="Carlito"/>
              </a:rPr>
              <a:t>la </a:t>
            </a:r>
            <a:r>
              <a:rPr sz="1200" spc="-5" dirty="0">
                <a:latin typeface="Carlito"/>
                <a:cs typeface="Carlito"/>
              </a:rPr>
              <a:t>obligación </a:t>
            </a:r>
            <a:r>
              <a:rPr sz="1200" dirty="0">
                <a:latin typeface="Carlito"/>
                <a:cs typeface="Carlito"/>
              </a:rPr>
              <a:t>de </a:t>
            </a:r>
            <a:r>
              <a:rPr sz="1200" spc="-5" dirty="0">
                <a:latin typeface="Carlito"/>
                <a:cs typeface="Carlito"/>
              </a:rPr>
              <a:t>manejar </a:t>
            </a:r>
            <a:r>
              <a:rPr sz="1200" dirty="0">
                <a:latin typeface="Carlito"/>
                <a:cs typeface="Carlito"/>
              </a:rPr>
              <a:t>el </a:t>
            </a:r>
            <a:r>
              <a:rPr sz="1200" spc="-5" dirty="0">
                <a:latin typeface="Carlito"/>
                <a:cs typeface="Carlito"/>
              </a:rPr>
              <a:t>ámbito </a:t>
            </a:r>
            <a:r>
              <a:rPr sz="1200" dirty="0">
                <a:latin typeface="Carlito"/>
                <a:cs typeface="Carlito"/>
              </a:rPr>
              <a:t>de </a:t>
            </a:r>
            <a:r>
              <a:rPr sz="1200" spc="-10" dirty="0">
                <a:latin typeface="Carlito"/>
                <a:cs typeface="Carlito"/>
              </a:rPr>
              <a:t>entrega </a:t>
            </a:r>
            <a:r>
              <a:rPr sz="1200" dirty="0">
                <a:latin typeface="Carlito"/>
                <a:cs typeface="Carlito"/>
              </a:rPr>
              <a:t>del </a:t>
            </a:r>
            <a:r>
              <a:rPr sz="1200" spc="-10" dirty="0">
                <a:latin typeface="Carlito"/>
                <a:cs typeface="Carlito"/>
              </a:rPr>
              <a:t>producto, para  asegurarse </a:t>
            </a:r>
            <a:r>
              <a:rPr sz="1200" spc="-5" dirty="0">
                <a:latin typeface="Carlito"/>
                <a:cs typeface="Carlito"/>
              </a:rPr>
              <a:t>que </a:t>
            </a:r>
            <a:r>
              <a:rPr sz="1200" dirty="0">
                <a:latin typeface="Carlito"/>
                <a:cs typeface="Carlito"/>
              </a:rPr>
              <a:t>el </a:t>
            </a:r>
            <a:r>
              <a:rPr sz="1200" spc="-5" dirty="0">
                <a:latin typeface="Carlito"/>
                <a:cs typeface="Carlito"/>
              </a:rPr>
              <a:t>sistema </a:t>
            </a:r>
            <a:r>
              <a:rPr sz="1200" spc="-10" dirty="0">
                <a:latin typeface="Carlito"/>
                <a:cs typeface="Carlito"/>
              </a:rPr>
              <a:t>tenga </a:t>
            </a:r>
            <a:r>
              <a:rPr sz="1200" dirty="0">
                <a:latin typeface="Carlito"/>
                <a:cs typeface="Carlito"/>
              </a:rPr>
              <a:t>el </a:t>
            </a:r>
            <a:r>
              <a:rPr sz="1200" spc="-10" dirty="0">
                <a:latin typeface="Carlito"/>
                <a:cs typeface="Carlito"/>
              </a:rPr>
              <a:t>mayor </a:t>
            </a:r>
            <a:r>
              <a:rPr sz="1200" spc="-5" dirty="0">
                <a:latin typeface="Carlito"/>
                <a:cs typeface="Carlito"/>
              </a:rPr>
              <a:t>valor de negocio posible con cada iteración.  </a:t>
            </a:r>
            <a:r>
              <a:rPr sz="1200" dirty="0">
                <a:latin typeface="Carlito"/>
                <a:cs typeface="Carlito"/>
              </a:rPr>
              <a:t>El </a:t>
            </a:r>
            <a:r>
              <a:rPr sz="1200" spc="-5" dirty="0">
                <a:latin typeface="Carlito"/>
                <a:cs typeface="Carlito"/>
              </a:rPr>
              <a:t>ciclo </a:t>
            </a:r>
            <a:r>
              <a:rPr sz="1200" dirty="0">
                <a:latin typeface="Carlito"/>
                <a:cs typeface="Carlito"/>
              </a:rPr>
              <a:t>de </a:t>
            </a:r>
            <a:r>
              <a:rPr sz="1200" spc="-5" dirty="0">
                <a:latin typeface="Carlito"/>
                <a:cs typeface="Carlito"/>
              </a:rPr>
              <a:t>vida ideal de </a:t>
            </a:r>
            <a:r>
              <a:rPr sz="1200" dirty="0">
                <a:latin typeface="Carlito"/>
                <a:cs typeface="Carlito"/>
              </a:rPr>
              <a:t>XP </a:t>
            </a:r>
            <a:r>
              <a:rPr sz="1200" spc="-10" dirty="0">
                <a:latin typeface="Carlito"/>
                <a:cs typeface="Carlito"/>
              </a:rPr>
              <a:t>consiste </a:t>
            </a:r>
            <a:r>
              <a:rPr sz="1200" dirty="0">
                <a:latin typeface="Carlito"/>
                <a:cs typeface="Carlito"/>
              </a:rPr>
              <a:t>de </a:t>
            </a:r>
            <a:r>
              <a:rPr sz="1200" spc="-5" dirty="0">
                <a:latin typeface="Carlito"/>
                <a:cs typeface="Carlito"/>
              </a:rPr>
              <a:t>seis </a:t>
            </a:r>
            <a:r>
              <a:rPr sz="1200" spc="-10" dirty="0">
                <a:latin typeface="Carlito"/>
                <a:cs typeface="Carlito"/>
              </a:rPr>
              <a:t>fases: </a:t>
            </a:r>
            <a:r>
              <a:rPr sz="1200" spc="-5" dirty="0">
                <a:latin typeface="Carlito"/>
                <a:cs typeface="Carlito"/>
              </a:rPr>
              <a:t>Exploración, Planificación </a:t>
            </a:r>
            <a:r>
              <a:rPr sz="1200" dirty="0">
                <a:latin typeface="Carlito"/>
                <a:cs typeface="Carlito"/>
              </a:rPr>
              <a:t>de la  </a:t>
            </a:r>
            <a:r>
              <a:rPr sz="1200" spc="-10" dirty="0">
                <a:latin typeface="Carlito"/>
                <a:cs typeface="Carlito"/>
              </a:rPr>
              <a:t>Entrega </a:t>
            </a:r>
            <a:r>
              <a:rPr sz="1200" spc="-5" dirty="0">
                <a:latin typeface="Carlito"/>
                <a:cs typeface="Carlito"/>
              </a:rPr>
              <a:t>(</a:t>
            </a:r>
            <a:r>
              <a:rPr sz="1200" i="1" spc="-5" dirty="0">
                <a:latin typeface="Carlito"/>
                <a:cs typeface="Carlito"/>
              </a:rPr>
              <a:t>Release</a:t>
            </a:r>
            <a:r>
              <a:rPr sz="1200" spc="-5" dirty="0">
                <a:latin typeface="Carlito"/>
                <a:cs typeface="Carlito"/>
              </a:rPr>
              <a:t>), Iteraciones, Producción, Mantenimiento </a:t>
            </a:r>
            <a:r>
              <a:rPr sz="1200" dirty="0">
                <a:latin typeface="Carlito"/>
                <a:cs typeface="Carlito"/>
              </a:rPr>
              <a:t>y </a:t>
            </a:r>
            <a:r>
              <a:rPr sz="1200" spc="-5" dirty="0">
                <a:latin typeface="Carlito"/>
                <a:cs typeface="Carlito"/>
              </a:rPr>
              <a:t>Muerte </a:t>
            </a:r>
            <a:r>
              <a:rPr sz="1200" dirty="0">
                <a:latin typeface="Carlito"/>
                <a:cs typeface="Carlito"/>
              </a:rPr>
              <a:t>del</a:t>
            </a:r>
            <a:r>
              <a:rPr sz="1200" spc="-45" dirty="0">
                <a:latin typeface="Carlito"/>
                <a:cs typeface="Carlito"/>
              </a:rPr>
              <a:t> </a:t>
            </a:r>
            <a:r>
              <a:rPr sz="1200" spc="-10" dirty="0">
                <a:latin typeface="Carlito"/>
                <a:cs typeface="Carlito"/>
              </a:rPr>
              <a:t>Proyecto.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79170" y="0"/>
            <a:ext cx="6030595" cy="1113790"/>
            <a:chOff x="1479170" y="0"/>
            <a:chExt cx="6030595" cy="1113790"/>
          </a:xfrm>
        </p:grpSpPr>
        <p:sp>
          <p:nvSpPr>
            <p:cNvPr id="3" name="object 3"/>
            <p:cNvSpPr/>
            <p:nvPr/>
          </p:nvSpPr>
          <p:spPr>
            <a:xfrm>
              <a:off x="1479170" y="286272"/>
              <a:ext cx="1282224" cy="4089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86227" y="0"/>
              <a:ext cx="2949702" cy="111328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73752" y="0"/>
              <a:ext cx="2635757" cy="111328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18132" y="789431"/>
            <a:ext cx="4622292" cy="25389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05025" y="3638803"/>
            <a:ext cx="465518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SP es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una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solución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basada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en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procesos 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para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resolver problemas de  negocio, tales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como: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predictibilidad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de 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costo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y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tiempo, mejora de  productividad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y ciclos de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desarrollo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y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mejora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de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calidad de  productos. </a:t>
            </a:r>
            <a:r>
              <a:rPr sz="1350" spc="-10" dirty="0">
                <a:solidFill>
                  <a:srgbClr val="001F5F"/>
                </a:solidFill>
                <a:latin typeface="Carlito"/>
                <a:cs typeface="Carlito"/>
              </a:rPr>
              <a:t>Enfocado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en la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experticia del grupo </a:t>
            </a:r>
            <a:r>
              <a:rPr sz="1350" dirty="0">
                <a:solidFill>
                  <a:srgbClr val="001F5F"/>
                </a:solidFill>
                <a:latin typeface="Carlito"/>
                <a:cs typeface="Carlito"/>
              </a:rPr>
              <a:t>de</a:t>
            </a:r>
            <a:r>
              <a:rPr sz="1350" spc="-15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350" spc="-5" dirty="0">
                <a:solidFill>
                  <a:srgbClr val="001F5F"/>
                </a:solidFill>
                <a:latin typeface="Carlito"/>
                <a:cs typeface="Carlito"/>
              </a:rPr>
              <a:t>trabajo</a:t>
            </a:r>
            <a:endParaRPr sz="13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2557" y="245672"/>
            <a:ext cx="5422265" cy="2052320"/>
            <a:chOff x="1752557" y="245672"/>
            <a:chExt cx="5422265" cy="2052320"/>
          </a:xfrm>
        </p:grpSpPr>
        <p:sp>
          <p:nvSpPr>
            <p:cNvPr id="3" name="object 3"/>
            <p:cNvSpPr/>
            <p:nvPr/>
          </p:nvSpPr>
          <p:spPr>
            <a:xfrm>
              <a:off x="1752557" y="245672"/>
              <a:ext cx="5421730" cy="4140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90215" y="568452"/>
              <a:ext cx="4075937" cy="111937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89859" y="1178051"/>
              <a:ext cx="3534917" cy="11193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07007" y="94234"/>
            <a:ext cx="5471795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IEEE 1074</a:t>
            </a:r>
            <a:r>
              <a:rPr spc="-45" dirty="0"/>
              <a:t> </a:t>
            </a:r>
            <a:r>
              <a:rPr spc="-5" dirty="0"/>
              <a:t>PROCESOS  DE </a:t>
            </a:r>
            <a:r>
              <a:rPr spc="-10" dirty="0"/>
              <a:t>CICLO </a:t>
            </a:r>
            <a:r>
              <a:rPr spc="-5" dirty="0"/>
              <a:t>DE  </a:t>
            </a:r>
            <a:r>
              <a:rPr spc="-35" dirty="0"/>
              <a:t>SOFTWARE</a:t>
            </a:r>
          </a:p>
        </p:txBody>
      </p:sp>
      <p:sp>
        <p:nvSpPr>
          <p:cNvPr id="7" name="object 7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400555" y="2225039"/>
            <a:ext cx="5473065" cy="2900680"/>
            <a:chOff x="1400555" y="2225039"/>
            <a:chExt cx="5473065" cy="2900680"/>
          </a:xfrm>
        </p:grpSpPr>
        <p:sp>
          <p:nvSpPr>
            <p:cNvPr id="9" name="object 9"/>
            <p:cNvSpPr/>
            <p:nvPr/>
          </p:nvSpPr>
          <p:spPr>
            <a:xfrm>
              <a:off x="6524283" y="4648249"/>
              <a:ext cx="339773" cy="4159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22264" y="4622291"/>
              <a:ext cx="431291" cy="50292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43730" y="4622291"/>
              <a:ext cx="382719" cy="4998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00555" y="2225039"/>
              <a:ext cx="5472684" cy="247954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40722" y="227782"/>
            <a:ext cx="5591175" cy="1443355"/>
            <a:chOff x="1540722" y="227782"/>
            <a:chExt cx="5591175" cy="1443355"/>
          </a:xfrm>
        </p:grpSpPr>
        <p:sp>
          <p:nvSpPr>
            <p:cNvPr id="3" name="object 3"/>
            <p:cNvSpPr/>
            <p:nvPr/>
          </p:nvSpPr>
          <p:spPr>
            <a:xfrm>
              <a:off x="1540722" y="227782"/>
              <a:ext cx="5590892" cy="4145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63367" y="551688"/>
              <a:ext cx="3536441" cy="111937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40722" y="354570"/>
            <a:ext cx="7269480" cy="9941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3030" marR="5080" indent="-137096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IEEE </a:t>
            </a:r>
            <a:r>
              <a:rPr spc="-10" dirty="0"/>
              <a:t>1074 </a:t>
            </a:r>
            <a:r>
              <a:rPr spc="-5" dirty="0"/>
              <a:t>GRUPOS DE  PROCESOS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469136" y="1437132"/>
            <a:ext cx="6019800" cy="3688079"/>
            <a:chOff x="1469136" y="1437132"/>
            <a:chExt cx="6019800" cy="3688079"/>
          </a:xfrm>
        </p:grpSpPr>
        <p:sp>
          <p:nvSpPr>
            <p:cNvPr id="7" name="object 7"/>
            <p:cNvSpPr/>
            <p:nvPr/>
          </p:nvSpPr>
          <p:spPr>
            <a:xfrm>
              <a:off x="6524283" y="4648249"/>
              <a:ext cx="339773" cy="41595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54595" y="4643627"/>
              <a:ext cx="434340" cy="42519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22264" y="4622292"/>
              <a:ext cx="431291" cy="50292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43730" y="4622292"/>
              <a:ext cx="382719" cy="4998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69136" y="1437132"/>
              <a:ext cx="5693664" cy="35433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69318" y="298511"/>
            <a:ext cx="4987925" cy="1445895"/>
            <a:chOff x="1769318" y="298511"/>
            <a:chExt cx="4987925" cy="1445895"/>
          </a:xfrm>
        </p:grpSpPr>
        <p:sp>
          <p:nvSpPr>
            <p:cNvPr id="3" name="object 3"/>
            <p:cNvSpPr/>
            <p:nvPr/>
          </p:nvSpPr>
          <p:spPr>
            <a:xfrm>
              <a:off x="1769318" y="298511"/>
              <a:ext cx="4987398" cy="4157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39112" y="624839"/>
              <a:ext cx="4440174" cy="111937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24660" y="151003"/>
            <a:ext cx="503682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9285" marR="5080" indent="-61722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MODELAMIENTO </a:t>
            </a:r>
            <a:r>
              <a:rPr spc="-5" dirty="0"/>
              <a:t>DE  </a:t>
            </a:r>
            <a:r>
              <a:rPr spc="-10" dirty="0"/>
              <a:t>CICLO </a:t>
            </a:r>
            <a:r>
              <a:rPr spc="-5" dirty="0"/>
              <a:t>DE VIDA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810768" y="1464563"/>
            <a:ext cx="6053455" cy="3660775"/>
            <a:chOff x="810768" y="1464563"/>
            <a:chExt cx="6053455" cy="3660775"/>
          </a:xfrm>
        </p:grpSpPr>
        <p:sp>
          <p:nvSpPr>
            <p:cNvPr id="7" name="object 7"/>
            <p:cNvSpPr/>
            <p:nvPr/>
          </p:nvSpPr>
          <p:spPr>
            <a:xfrm>
              <a:off x="6524283" y="4648249"/>
              <a:ext cx="339773" cy="41595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22264" y="4622291"/>
              <a:ext cx="431291" cy="50292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43730" y="4622291"/>
              <a:ext cx="382719" cy="4998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0768" y="1464563"/>
              <a:ext cx="5893308" cy="317906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842470" y="495107"/>
            <a:ext cx="4987925" cy="2055495"/>
            <a:chOff x="1842470" y="495107"/>
            <a:chExt cx="4987925" cy="2055495"/>
          </a:xfrm>
        </p:grpSpPr>
        <p:sp>
          <p:nvSpPr>
            <p:cNvPr id="4" name="object 4"/>
            <p:cNvSpPr/>
            <p:nvPr/>
          </p:nvSpPr>
          <p:spPr>
            <a:xfrm>
              <a:off x="1842470" y="495107"/>
              <a:ext cx="4987398" cy="4157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08048" y="821436"/>
              <a:ext cx="4565142" cy="111937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11011" y="821436"/>
              <a:ext cx="944117" cy="111937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59024" y="1431036"/>
              <a:ext cx="2946654" cy="111937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97176" y="348487"/>
            <a:ext cx="5039995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008080"/>
                </a:solidFill>
                <a:latin typeface="Arial"/>
                <a:cs typeface="Arial"/>
              </a:rPr>
              <a:t>MODELAMIENTO</a:t>
            </a:r>
            <a:r>
              <a:rPr sz="4000" b="1" spc="-50" dirty="0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008080"/>
                </a:solidFill>
                <a:latin typeface="Arial"/>
                <a:cs typeface="Arial"/>
              </a:rPr>
              <a:t>DE  </a:t>
            </a:r>
            <a:r>
              <a:rPr sz="4000" b="1" spc="-10" dirty="0">
                <a:solidFill>
                  <a:srgbClr val="008080"/>
                </a:solidFill>
                <a:latin typeface="Arial"/>
                <a:cs typeface="Arial"/>
              </a:rPr>
              <a:t>CICLO </a:t>
            </a:r>
            <a:r>
              <a:rPr sz="4000" b="1" spc="-5" dirty="0">
                <a:solidFill>
                  <a:srgbClr val="008080"/>
                </a:solidFill>
                <a:latin typeface="Arial"/>
                <a:cs typeface="Arial"/>
              </a:rPr>
              <a:t>DE VIDA –  IEEE1074</a:t>
            </a:r>
            <a:endParaRPr sz="4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24283" y="4648249"/>
            <a:ext cx="339773" cy="4159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54595" y="4643628"/>
            <a:ext cx="434340" cy="42519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22264" y="4622291"/>
            <a:ext cx="431291" cy="5029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43730" y="4622291"/>
            <a:ext cx="382719" cy="4998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72513" y="2619883"/>
            <a:ext cx="578866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35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rlito"/>
                <a:cs typeface="Carlito"/>
                <a:hlinkClick r:id="rId10"/>
              </a:rPr>
              <a:t>http://prezi.com/b6e7itt3zy66/estandar-ieee-1074-developing-software-life-cycle- </a:t>
            </a:r>
            <a:r>
              <a:rPr sz="1350" spc="-5" dirty="0">
                <a:solidFill>
                  <a:srgbClr val="0000FF"/>
                </a:solidFill>
                <a:latin typeface="Carlito"/>
                <a:cs typeface="Carlito"/>
                <a:hlinkClick r:id="rId10"/>
              </a:rPr>
              <a:t> </a:t>
            </a:r>
            <a:r>
              <a:rPr sz="135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rlito"/>
                <a:cs typeface="Carlito"/>
                <a:hlinkClick r:id="rId10"/>
              </a:rPr>
              <a:t>process/</a:t>
            </a:r>
            <a:endParaRPr sz="135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B46097E3962454F887B83B8FDF54C69" ma:contentTypeVersion="14" ma:contentTypeDescription="Crear nuevo documento." ma:contentTypeScope="" ma:versionID="6d4ef2bb47f2b228f95747a1bc461fdc">
  <xsd:schema xmlns:xsd="http://www.w3.org/2001/XMLSchema" xmlns:xs="http://www.w3.org/2001/XMLSchema" xmlns:p="http://schemas.microsoft.com/office/2006/metadata/properties" xmlns:ns3="905fb7ea-8bb8-49fd-b86f-218c3ad64873" xmlns:ns4="2e3cc5f0-419d-4601-913d-f15082dd9f36" targetNamespace="http://schemas.microsoft.com/office/2006/metadata/properties" ma:root="true" ma:fieldsID="fd1f58a44646f2e9343952b9bfbcdc1d" ns3:_="" ns4:_="">
    <xsd:import namespace="905fb7ea-8bb8-49fd-b86f-218c3ad64873"/>
    <xsd:import namespace="2e3cc5f0-419d-4601-913d-f15082dd9f3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5fb7ea-8bb8-49fd-b86f-218c3ad648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3cc5f0-419d-4601-913d-f15082dd9f3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B51382F-D52F-4192-8899-12BBDED3CE5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97B4DE-5E8F-4B6E-8E2B-83C6DDC9B5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5fb7ea-8bb8-49fd-b86f-218c3ad64873"/>
    <ds:schemaRef ds:uri="2e3cc5f0-419d-4601-913d-f15082dd9f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C97CB1-BAA5-4BD4-9ED9-85A93834F516}">
  <ds:schemaRefs>
    <ds:schemaRef ds:uri="2e3cc5f0-419d-4601-913d-f15082dd9f36"/>
    <ds:schemaRef ds:uri="905fb7ea-8bb8-49fd-b86f-218c3ad64873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dcmitype/"/>
    <ds:schemaRef ds:uri="http://www.w3.org/XML/1998/namespace"/>
    <ds:schemaRef ds:uri="http://purl.org/dc/terms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12</TotalTime>
  <Words>728</Words>
  <Application>Microsoft Office PowerPoint</Application>
  <PresentationFormat>Presentación en pantalla (16:9)</PresentationFormat>
  <Paragraphs>64</Paragraphs>
  <Slides>28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7" baseType="lpstr">
      <vt:lpstr>Arial</vt:lpstr>
      <vt:lpstr>Calibri</vt:lpstr>
      <vt:lpstr>Carlito</vt:lpstr>
      <vt:lpstr>Century Schoolbook</vt:lpstr>
      <vt:lpstr>TeXGyrePagella</vt:lpstr>
      <vt:lpstr>Times New Roman</vt:lpstr>
      <vt:lpstr>Wingdings</vt:lpstr>
      <vt:lpstr>Wingdings 2</vt:lpstr>
      <vt:lpstr>Vista</vt:lpstr>
      <vt:lpstr>Sistemas de información </vt:lpstr>
      <vt:lpstr>CICLO DE VIDA DE</vt:lpstr>
      <vt:lpstr>Ciclo de Vida = Ciclo de Desarrollo + Mantenimiento</vt:lpstr>
      <vt:lpstr>EL CICLO TRADICIONAL DE LOS S.I.</vt:lpstr>
      <vt:lpstr>ACTIVIDADES DE UN  CICLO DE VIDA</vt:lpstr>
      <vt:lpstr>CASCADA</vt:lpstr>
      <vt:lpstr>VENTAJAS CASCADA</vt:lpstr>
      <vt:lpstr>DEBILIDADES CASCADA</vt:lpstr>
      <vt:lpstr>DEBILIDADES CASCADA</vt:lpstr>
      <vt:lpstr>INCREMENTAL</vt:lpstr>
      <vt:lpstr>PROTOTIPADO</vt:lpstr>
      <vt:lpstr>ITERACTIVO</vt:lpstr>
      <vt:lpstr>CICLO EN V</vt:lpstr>
      <vt:lpstr>CICLO EN V</vt:lpstr>
      <vt:lpstr>MODELO ESPIRAL</vt:lpstr>
      <vt:lpstr>MODELO ESPIRAL</vt:lpstr>
      <vt:lpstr>MODELO UNIFIED  PROCESS</vt:lpstr>
      <vt:lpstr>MODELO UNIFIED  PROCESS</vt:lpstr>
      <vt:lpstr>Presentación de PowerPoint</vt:lpstr>
      <vt:lpstr>Método Ágil SCRUM</vt:lpstr>
      <vt:lpstr>Presentación de PowerPoint</vt:lpstr>
      <vt:lpstr>METODOLOGÍA XP</vt:lpstr>
      <vt:lpstr>Presentación de PowerPoint</vt:lpstr>
      <vt:lpstr>Presentación de PowerPoint</vt:lpstr>
      <vt:lpstr>IEEE 1074 PROCESOS  DE CICLO DE  SOFTWARE</vt:lpstr>
      <vt:lpstr>IEEE 1074 GRUPOS DE  PROCESOS</vt:lpstr>
      <vt:lpstr>MODELAMIENTO DE  CICLO DE VIDA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UNIVERSIDAD EAN</dc:creator>
  <cp:lastModifiedBy>brayan torres</cp:lastModifiedBy>
  <cp:revision>3</cp:revision>
  <dcterms:created xsi:type="dcterms:W3CDTF">2021-07-28T13:25:24Z</dcterms:created>
  <dcterms:modified xsi:type="dcterms:W3CDTF">2026-02-24T22:07:40Z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2020-08-10T00:00:00Z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2021-07-28T00:00:00Z</vt:filetime>
  </property>
  <property fmtid="{D5CDD505-2E9C-101B-9397-08002B2CF9AE}" pid="5" name="ContentTypeId">
    <vt:lpwstr>0x0101001B46097E3962454F887B83B8FDF54C69</vt:lpwstr>
  </property>
</Properties>
</file>