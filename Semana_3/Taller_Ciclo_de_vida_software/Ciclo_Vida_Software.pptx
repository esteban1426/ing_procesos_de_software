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ow Bold" charset="1" panose="00000800000000000000"/>
      <p:regular r:id="rId14"/>
    </p:embeddedFont>
    <p:embeddedFont>
      <p:font typeface="Canva Sans" charset="1" panose="020B0503030501040103"/>
      <p:regular r:id="rId15"/>
    </p:embeddedFont>
    <p:embeddedFont>
      <p:font typeface="Canva Sans Bold" charset="1" panose="020B0803030501040103"/>
      <p:regular r:id="rId16"/>
    </p:embeddedFont>
    <p:embeddedFont>
      <p:font typeface="Canva Sans Italics" charset="1" panose="020B0503030501040103"/>
      <p:regular r:id="rId17"/>
    </p:embeddedFont>
    <p:embeddedFont>
      <p:font typeface="Now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85382" y="3062937"/>
            <a:ext cx="917235" cy="917235"/>
          </a:xfrm>
          <a:custGeom>
            <a:avLst/>
            <a:gdLst/>
            <a:ahLst/>
            <a:cxnLst/>
            <a:rect r="r" b="b" t="t" l="l"/>
            <a:pathLst>
              <a:path h="917235" w="917235">
                <a:moveTo>
                  <a:pt x="0" y="0"/>
                </a:moveTo>
                <a:lnTo>
                  <a:pt x="917236" y="0"/>
                </a:lnTo>
                <a:lnTo>
                  <a:pt x="917236" y="917235"/>
                </a:lnTo>
                <a:lnTo>
                  <a:pt x="0" y="917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17970" y="4529554"/>
            <a:ext cx="11852059" cy="195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06"/>
              </a:lnSpc>
            </a:pPr>
            <a:r>
              <a:rPr lang="en-US" b="true" sz="6987" spc="48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CICLO DE VIDA DEL SOFTWARE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7121" y="8875453"/>
            <a:ext cx="4011502" cy="2823094"/>
          </a:xfrm>
          <a:custGeom>
            <a:avLst/>
            <a:gdLst/>
            <a:ahLst/>
            <a:cxnLst/>
            <a:rect r="r" b="b" t="t" l="l"/>
            <a:pathLst>
              <a:path h="2823094" w="4011502">
                <a:moveTo>
                  <a:pt x="0" y="0"/>
                </a:moveTo>
                <a:lnTo>
                  <a:pt x="4011502" y="0"/>
                </a:lnTo>
                <a:lnTo>
                  <a:pt x="4011502" y="2823094"/>
                </a:lnTo>
                <a:lnTo>
                  <a:pt x="0" y="2823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6411" y="837005"/>
            <a:ext cx="8476694" cy="5221270"/>
            <a:chOff x="0" y="0"/>
            <a:chExt cx="11302259" cy="69616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2009554" y="356589"/>
              <a:ext cx="9292705" cy="805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99"/>
                </a:lnSpc>
                <a:spcBef>
                  <a:spcPct val="0"/>
                </a:spcBef>
              </a:pPr>
              <a:r>
                <a:rPr lang="en-US" b="true" sz="4245" spc="297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DIFERENTES MODELOS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391253" y="1409888"/>
              <a:ext cx="10556485" cy="555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54820" indent="-377410" lvl="1">
                <a:lnSpc>
                  <a:spcPts val="8740"/>
                </a:lnSpc>
                <a:buFont typeface="Arial"/>
                <a:buChar char="•"/>
              </a:pPr>
              <a:r>
                <a:rPr lang="en-US" sz="34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CASCADA</a:t>
              </a:r>
            </a:p>
            <a:p>
              <a:pPr algn="just" marL="754820" indent="-377410" lvl="1">
                <a:lnSpc>
                  <a:spcPts val="8740"/>
                </a:lnSpc>
                <a:buFont typeface="Arial"/>
                <a:buChar char="•"/>
              </a:pPr>
              <a:r>
                <a:rPr lang="en-US" sz="34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ITERATIVO</a:t>
              </a:r>
            </a:p>
            <a:p>
              <a:pPr algn="just" marL="754820" indent="-377410" lvl="1">
                <a:lnSpc>
                  <a:spcPts val="8740"/>
                </a:lnSpc>
                <a:buFont typeface="Arial"/>
                <a:buChar char="•"/>
              </a:pPr>
              <a:r>
                <a:rPr lang="en-US" sz="34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PROTOTIPADO</a:t>
              </a:r>
            </a:p>
            <a:p>
              <a:pPr algn="just" marL="754820" indent="-377410" lvl="1">
                <a:lnSpc>
                  <a:spcPts val="8740"/>
                </a:lnSpc>
                <a:buFont typeface="Arial"/>
                <a:buChar char="•"/>
              </a:pPr>
              <a:r>
                <a:rPr lang="en-US" sz="34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 V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3289" cy="1253289"/>
            </a:xfrm>
            <a:custGeom>
              <a:avLst/>
              <a:gdLst/>
              <a:ahLst/>
              <a:cxnLst/>
              <a:rect r="r" b="b" t="t" l="l"/>
              <a:pathLst>
                <a:path h="1253289" w="1253289">
                  <a:moveTo>
                    <a:pt x="0" y="0"/>
                  </a:moveTo>
                  <a:lnTo>
                    <a:pt x="1253289" y="0"/>
                  </a:lnTo>
                  <a:lnTo>
                    <a:pt x="1253289" y="1253289"/>
                  </a:lnTo>
                  <a:lnTo>
                    <a:pt x="0" y="1253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327207" y="337539"/>
              <a:ext cx="625262" cy="58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3"/>
                </a:lnSpc>
                <a:spcBef>
                  <a:spcPct val="0"/>
                </a:spcBef>
              </a:pPr>
              <a:r>
                <a:rPr lang="en-US" b="true" sz="3116" spc="-6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760652" y="470866"/>
            <a:ext cx="4493244" cy="2976774"/>
          </a:xfrm>
          <a:custGeom>
            <a:avLst/>
            <a:gdLst/>
            <a:ahLst/>
            <a:cxnLst/>
            <a:rect r="r" b="b" t="t" l="l"/>
            <a:pathLst>
              <a:path h="2976774" w="4493244">
                <a:moveTo>
                  <a:pt x="0" y="0"/>
                </a:moveTo>
                <a:lnTo>
                  <a:pt x="4493244" y="0"/>
                </a:lnTo>
                <a:lnTo>
                  <a:pt x="4493244" y="2976774"/>
                </a:lnTo>
                <a:lnTo>
                  <a:pt x="0" y="29767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45266" y="3447640"/>
            <a:ext cx="5127947" cy="2845074"/>
          </a:xfrm>
          <a:custGeom>
            <a:avLst/>
            <a:gdLst/>
            <a:ahLst/>
            <a:cxnLst/>
            <a:rect r="r" b="b" t="t" l="l"/>
            <a:pathLst>
              <a:path h="2845074" w="5127947">
                <a:moveTo>
                  <a:pt x="0" y="0"/>
                </a:moveTo>
                <a:lnTo>
                  <a:pt x="5127947" y="0"/>
                </a:lnTo>
                <a:lnTo>
                  <a:pt x="5127947" y="2845074"/>
                </a:lnTo>
                <a:lnTo>
                  <a:pt x="0" y="28450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10788" y="4350337"/>
            <a:ext cx="5487751" cy="3155198"/>
          </a:xfrm>
          <a:custGeom>
            <a:avLst/>
            <a:gdLst/>
            <a:ahLst/>
            <a:cxnLst/>
            <a:rect r="r" b="b" t="t" l="l"/>
            <a:pathLst>
              <a:path h="3155198" w="5487751">
                <a:moveTo>
                  <a:pt x="0" y="0"/>
                </a:moveTo>
                <a:lnTo>
                  <a:pt x="5487751" y="0"/>
                </a:lnTo>
                <a:lnTo>
                  <a:pt x="5487751" y="3155198"/>
                </a:lnTo>
                <a:lnTo>
                  <a:pt x="0" y="31551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762" t="0" r="-2833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41270" y="6684840"/>
            <a:ext cx="4619383" cy="3325956"/>
          </a:xfrm>
          <a:custGeom>
            <a:avLst/>
            <a:gdLst/>
            <a:ahLst/>
            <a:cxnLst/>
            <a:rect r="r" b="b" t="t" l="l"/>
            <a:pathLst>
              <a:path h="3325956" w="4619383">
                <a:moveTo>
                  <a:pt x="0" y="0"/>
                </a:moveTo>
                <a:lnTo>
                  <a:pt x="4619382" y="0"/>
                </a:lnTo>
                <a:lnTo>
                  <a:pt x="4619382" y="3325955"/>
                </a:lnTo>
                <a:lnTo>
                  <a:pt x="0" y="33259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5217" y="783232"/>
            <a:ext cx="986966" cy="986966"/>
            <a:chOff x="0" y="0"/>
            <a:chExt cx="1315955" cy="1315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5955" cy="1315955"/>
            </a:xfrm>
            <a:custGeom>
              <a:avLst/>
              <a:gdLst/>
              <a:ahLst/>
              <a:cxnLst/>
              <a:rect r="r" b="b" t="t" l="l"/>
              <a:pathLst>
                <a:path h="1315955" w="1315955">
                  <a:moveTo>
                    <a:pt x="0" y="0"/>
                  </a:moveTo>
                  <a:lnTo>
                    <a:pt x="1315955" y="0"/>
                  </a:lnTo>
                  <a:lnTo>
                    <a:pt x="1315955" y="1315955"/>
                  </a:lnTo>
                  <a:lnTo>
                    <a:pt x="0" y="1315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329715" y="366364"/>
              <a:ext cx="656526" cy="6213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68"/>
                </a:lnSpc>
                <a:spcBef>
                  <a:spcPct val="0"/>
                </a:spcBef>
              </a:pPr>
              <a:r>
                <a:rPr lang="en-US" b="true" sz="3272" spc="-65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89362" y="830857"/>
            <a:ext cx="6427896" cy="127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9"/>
              </a:lnSpc>
              <a:spcBef>
                <a:spcPct val="0"/>
              </a:spcBef>
            </a:pPr>
            <a:r>
              <a:rPr lang="en-US" b="true" sz="4556" spc="318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VENTAJAS Y DESVENTAJAS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139950" y="7942952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85756" y="389512"/>
            <a:ext cx="811794" cy="787440"/>
          </a:xfrm>
          <a:custGeom>
            <a:avLst/>
            <a:gdLst/>
            <a:ahLst/>
            <a:cxnLst/>
            <a:rect r="r" b="b" t="t" l="l"/>
            <a:pathLst>
              <a:path h="787440" w="811794">
                <a:moveTo>
                  <a:pt x="0" y="0"/>
                </a:moveTo>
                <a:lnTo>
                  <a:pt x="811794" y="0"/>
                </a:lnTo>
                <a:lnTo>
                  <a:pt x="811794" y="787440"/>
                </a:lnTo>
                <a:lnTo>
                  <a:pt x="0" y="7874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477207"/>
            <a:ext cx="7957592" cy="75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CASCADA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Ventajas</a:t>
            </a:r>
          </a:p>
          <a:p>
            <a:pPr algn="l" marL="2590776" indent="-431796" lvl="5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Simplicidad</a:t>
            </a:r>
          </a:p>
          <a:p>
            <a:pPr algn="l" marL="2590776" indent="-431796" lvl="5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Adecuación de requisitos</a:t>
            </a:r>
          </a:p>
          <a:p>
            <a:pPr algn="l" marL="2590776" indent="-431796" lvl="5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Procesos secuenciales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Desventajas</a:t>
            </a:r>
          </a:p>
          <a:p>
            <a:pPr algn="l" marL="2590776" indent="-431796" lvl="5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Irreversibilidad</a:t>
            </a:r>
          </a:p>
          <a:p>
            <a:pPr algn="l" marL="2590776" indent="-431796" lvl="5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Dependencia de requisitos completos</a:t>
            </a:r>
          </a:p>
          <a:p>
            <a:pPr algn="l" marL="2590776" indent="-431796" lvl="5">
              <a:lnSpc>
                <a:spcPts val="335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Rigidez en cronograma</a:t>
            </a:r>
          </a:p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ITERATIVO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Ventajas</a:t>
            </a:r>
          </a:p>
          <a:p>
            <a:pPr algn="l" marL="2072621" indent="-414524" lvl="4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Software funcional temprano</a:t>
            </a:r>
          </a:p>
          <a:p>
            <a:pPr algn="l" marL="2072621" indent="-414524" lvl="4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Flexibilidad ante cambios</a:t>
            </a:r>
          </a:p>
          <a:p>
            <a:pPr algn="l" marL="2072621" indent="-414524" lvl="4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Facilidad de depuración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Desventajas</a:t>
            </a:r>
          </a:p>
          <a:p>
            <a:pPr algn="l" marL="2072621" indent="-414524" lvl="4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Rigidez por fases</a:t>
            </a:r>
          </a:p>
          <a:p>
            <a:pPr algn="l" marL="2072621" indent="-414524" lvl="4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Dependencia de requisitos claros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25238" y="735607"/>
            <a:ext cx="6764089" cy="874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8925" indent="-269463" lvl="1">
              <a:lnSpc>
                <a:spcPts val="3494"/>
              </a:lnSpc>
              <a:buFont typeface="Arial"/>
              <a:buChar char="•"/>
            </a:pPr>
            <a:r>
              <a:rPr lang="en-US" b="true" sz="2496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</a:t>
            </a:r>
            <a:r>
              <a:rPr lang="en-US" b="true" sz="2496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TOTIPADO</a:t>
            </a:r>
          </a:p>
          <a:p>
            <a:pPr algn="ctr">
              <a:lnSpc>
                <a:spcPts val="3494"/>
              </a:lnSpc>
              <a:spcBef>
                <a:spcPct val="0"/>
              </a:spcBef>
            </a:pPr>
            <a:r>
              <a:rPr lang="en-US" b="true" sz="24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Ventajas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Detección temprana de errores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Identificación de elementos faltantes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Margen de mejora continua</a:t>
            </a:r>
          </a:p>
          <a:p>
            <a:pPr algn="ctr">
              <a:lnSpc>
                <a:spcPts val="3494"/>
              </a:lnSpc>
              <a:spcBef>
                <a:spcPct val="0"/>
              </a:spcBef>
            </a:pPr>
            <a:r>
              <a:rPr lang="en-US" b="true" sz="24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Desventajas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Alto costo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Documentación débil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Riesgo de cancelación del proyecto</a:t>
            </a:r>
          </a:p>
          <a:p>
            <a:pPr algn="l">
              <a:lnSpc>
                <a:spcPts val="3494"/>
              </a:lnSpc>
            </a:pPr>
          </a:p>
          <a:p>
            <a:pPr algn="l" marL="538925" indent="-269463" lvl="1">
              <a:lnSpc>
                <a:spcPts val="3494"/>
              </a:lnSpc>
              <a:buFont typeface="Arial"/>
              <a:buChar char="•"/>
            </a:pPr>
            <a:r>
              <a:rPr lang="en-US" b="true" sz="2496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MODELO EN V</a:t>
            </a:r>
          </a:p>
          <a:p>
            <a:pPr algn="ctr">
              <a:lnSpc>
                <a:spcPts val="3494"/>
              </a:lnSpc>
              <a:spcBef>
                <a:spcPct val="0"/>
              </a:spcBef>
            </a:pPr>
            <a:r>
              <a:rPr lang="en-US" b="true" sz="24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Ventajas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Simplicidad estructural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Integración temprana de pruebas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Adecuado para proyectos pequeños</a:t>
            </a:r>
          </a:p>
          <a:p>
            <a:pPr algn="ctr">
              <a:lnSpc>
                <a:spcPts val="3494"/>
              </a:lnSpc>
              <a:spcBef>
                <a:spcPct val="0"/>
              </a:spcBef>
            </a:pPr>
            <a:r>
              <a:rPr lang="en-US" b="true" sz="24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Desventajas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Ausencia de prototipos iniciales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Sobrecarga documental</a:t>
            </a:r>
          </a:p>
          <a:p>
            <a:pPr algn="l" marL="1077851" indent="-359284" lvl="2">
              <a:lnSpc>
                <a:spcPts val="3494"/>
              </a:lnSpc>
              <a:buFont typeface="Arial"/>
              <a:buChar char="⚬"/>
            </a:pPr>
            <a:r>
              <a:rPr lang="en-US" sz="249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Rigidez ante cambios</a:t>
            </a:r>
          </a:p>
          <a:p>
            <a:pPr algn="ctr">
              <a:lnSpc>
                <a:spcPts val="34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6414" y="8421112"/>
            <a:ext cx="2158419" cy="2158419"/>
          </a:xfrm>
          <a:custGeom>
            <a:avLst/>
            <a:gdLst/>
            <a:ahLst/>
            <a:cxnLst/>
            <a:rect r="r" b="b" t="t" l="l"/>
            <a:pathLst>
              <a:path h="2158419" w="2158419">
                <a:moveTo>
                  <a:pt x="0" y="0"/>
                </a:moveTo>
                <a:lnTo>
                  <a:pt x="2158419" y="0"/>
                </a:lnTo>
                <a:lnTo>
                  <a:pt x="2158419" y="2158419"/>
                </a:lnTo>
                <a:lnTo>
                  <a:pt x="0" y="21584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10822" y="8696951"/>
            <a:ext cx="561349" cy="561349"/>
          </a:xfrm>
          <a:custGeom>
            <a:avLst/>
            <a:gdLst/>
            <a:ahLst/>
            <a:cxnLst/>
            <a:rect r="r" b="b" t="t" l="l"/>
            <a:pathLst>
              <a:path h="561349" w="561349">
                <a:moveTo>
                  <a:pt x="0" y="0"/>
                </a:moveTo>
                <a:lnTo>
                  <a:pt x="561349" y="0"/>
                </a:lnTo>
                <a:lnTo>
                  <a:pt x="561349" y="561349"/>
                </a:lnTo>
                <a:lnTo>
                  <a:pt x="0" y="561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22112" y="8421112"/>
            <a:ext cx="837188" cy="837188"/>
          </a:xfrm>
          <a:custGeom>
            <a:avLst/>
            <a:gdLst/>
            <a:ahLst/>
            <a:cxnLst/>
            <a:rect r="r" b="b" t="t" l="l"/>
            <a:pathLst>
              <a:path h="837188" w="837188">
                <a:moveTo>
                  <a:pt x="0" y="0"/>
                </a:moveTo>
                <a:lnTo>
                  <a:pt x="837188" y="0"/>
                </a:lnTo>
                <a:lnTo>
                  <a:pt x="837188" y="837188"/>
                </a:lnTo>
                <a:lnTo>
                  <a:pt x="0" y="837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45238" y="1161645"/>
            <a:ext cx="973533" cy="973533"/>
            <a:chOff x="0" y="0"/>
            <a:chExt cx="1298044" cy="1298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8044" cy="1298044"/>
            </a:xfrm>
            <a:custGeom>
              <a:avLst/>
              <a:gdLst/>
              <a:ahLst/>
              <a:cxnLst/>
              <a:rect r="r" b="b" t="t" l="l"/>
              <a:pathLst>
                <a:path h="1298044" w="1298044">
                  <a:moveTo>
                    <a:pt x="0" y="0"/>
                  </a:moveTo>
                  <a:lnTo>
                    <a:pt x="1298044" y="0"/>
                  </a:lnTo>
                  <a:lnTo>
                    <a:pt x="1298044" y="1298044"/>
                  </a:lnTo>
                  <a:lnTo>
                    <a:pt x="0" y="1298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325227" y="348232"/>
              <a:ext cx="647590" cy="612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21"/>
                </a:lnSpc>
                <a:spcBef>
                  <a:spcPct val="0"/>
                </a:spcBef>
              </a:pPr>
              <a:r>
                <a:rPr lang="en-US" b="true" sz="3227" spc="-6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90866" y="3842146"/>
            <a:ext cx="13906269" cy="3147837"/>
          </a:xfrm>
          <a:custGeom>
            <a:avLst/>
            <a:gdLst/>
            <a:ahLst/>
            <a:cxnLst/>
            <a:rect r="r" b="b" t="t" l="l"/>
            <a:pathLst>
              <a:path h="3147837" w="13906269">
                <a:moveTo>
                  <a:pt x="0" y="0"/>
                </a:moveTo>
                <a:lnTo>
                  <a:pt x="13906268" y="0"/>
                </a:lnTo>
                <a:lnTo>
                  <a:pt x="13906268" y="3147837"/>
                </a:lnTo>
                <a:lnTo>
                  <a:pt x="0" y="31478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87313" y="1095375"/>
            <a:ext cx="7304089" cy="141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  <a:spcBef>
                <a:spcPct val="0"/>
              </a:spcBef>
            </a:pPr>
            <a:r>
              <a:rPr lang="en-US" b="true" sz="5150" spc="36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MATRIZ COMPARATIVA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47596" y="4316277"/>
            <a:ext cx="458618" cy="458618"/>
          </a:xfrm>
          <a:custGeom>
            <a:avLst/>
            <a:gdLst/>
            <a:ahLst/>
            <a:cxnLst/>
            <a:rect r="r" b="b" t="t" l="l"/>
            <a:pathLst>
              <a:path h="458618" w="458618">
                <a:moveTo>
                  <a:pt x="0" y="0"/>
                </a:moveTo>
                <a:lnTo>
                  <a:pt x="458617" y="0"/>
                </a:lnTo>
                <a:lnTo>
                  <a:pt x="458617" y="458617"/>
                </a:lnTo>
                <a:lnTo>
                  <a:pt x="0" y="4586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62956" y="2900723"/>
            <a:ext cx="6754732" cy="141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  <a:spcBef>
                <a:spcPct val="0"/>
              </a:spcBef>
            </a:pPr>
            <a:r>
              <a:rPr lang="en-US" b="true" sz="5150" spc="36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PLATAFORMA DE E-COMMERCE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26374" y="5416002"/>
            <a:ext cx="6427896" cy="373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8"/>
              </a:lnSpc>
            </a:pPr>
            <a:r>
              <a:rPr lang="en-US" sz="2300" i="true" spc="-46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La razón de porque se elijo este modelo es por su practicidad a la hora de que en cada iteración puedan implementarse diferentes cambios sin generar retardos o imprevistos, pues un e-commerce no siempre se mantiene muy definidos los requisitos debido a posibles nuevas implementaciones o el descarte de las mismas, esto se puede ver principalmente en la pasarelas de pago, catalogo de producto, promociones o simplemente la experiencia de usuario.</a:t>
            </a:r>
          </a:p>
          <a:p>
            <a:pPr algn="ctr" marL="0" indent="0" lvl="0">
              <a:lnSpc>
                <a:spcPts val="2862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023221" y="8950366"/>
            <a:ext cx="3542585" cy="1479029"/>
          </a:xfrm>
          <a:custGeom>
            <a:avLst/>
            <a:gdLst/>
            <a:ahLst/>
            <a:cxnLst/>
            <a:rect r="r" b="b" t="t" l="l"/>
            <a:pathLst>
              <a:path h="1479029" w="3542585">
                <a:moveTo>
                  <a:pt x="0" y="0"/>
                </a:moveTo>
                <a:lnTo>
                  <a:pt x="3542585" y="0"/>
                </a:lnTo>
                <a:lnTo>
                  <a:pt x="3542585" y="1479029"/>
                </a:lnTo>
                <a:lnTo>
                  <a:pt x="0" y="1479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686404" y="2701023"/>
            <a:ext cx="5372809" cy="5372809"/>
          </a:xfrm>
          <a:custGeom>
            <a:avLst/>
            <a:gdLst/>
            <a:ahLst/>
            <a:cxnLst/>
            <a:rect r="r" b="b" t="t" l="l"/>
            <a:pathLst>
              <a:path h="5372809" w="5372809">
                <a:moveTo>
                  <a:pt x="0" y="0"/>
                </a:moveTo>
                <a:lnTo>
                  <a:pt x="5372808" y="0"/>
                </a:lnTo>
                <a:lnTo>
                  <a:pt x="5372808" y="5372808"/>
                </a:lnTo>
                <a:lnTo>
                  <a:pt x="0" y="5372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94240" y="2397616"/>
            <a:ext cx="7027016" cy="4626777"/>
          </a:xfrm>
          <a:custGeom>
            <a:avLst/>
            <a:gdLst/>
            <a:ahLst/>
            <a:cxnLst/>
            <a:rect r="r" b="b" t="t" l="l"/>
            <a:pathLst>
              <a:path h="4626777" w="7027016">
                <a:moveTo>
                  <a:pt x="0" y="0"/>
                </a:moveTo>
                <a:lnTo>
                  <a:pt x="7027016" y="0"/>
                </a:lnTo>
                <a:lnTo>
                  <a:pt x="7027016" y="4626777"/>
                </a:lnTo>
                <a:lnTo>
                  <a:pt x="0" y="4626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02647" y="-1075950"/>
            <a:ext cx="3915197" cy="3915197"/>
          </a:xfrm>
          <a:custGeom>
            <a:avLst/>
            <a:gdLst/>
            <a:ahLst/>
            <a:cxnLst/>
            <a:rect r="r" b="b" t="t" l="l"/>
            <a:pathLst>
              <a:path h="3915197" w="3915197">
                <a:moveTo>
                  <a:pt x="0" y="0"/>
                </a:moveTo>
                <a:lnTo>
                  <a:pt x="3915197" y="0"/>
                </a:lnTo>
                <a:lnTo>
                  <a:pt x="3915197" y="3915197"/>
                </a:lnTo>
                <a:lnTo>
                  <a:pt x="0" y="3915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14793" y="6257531"/>
            <a:ext cx="10754366" cy="2713876"/>
          </a:xfrm>
          <a:custGeom>
            <a:avLst/>
            <a:gdLst/>
            <a:ahLst/>
            <a:cxnLst/>
            <a:rect r="r" b="b" t="t" l="l"/>
            <a:pathLst>
              <a:path h="2713876" w="10754366">
                <a:moveTo>
                  <a:pt x="0" y="0"/>
                </a:moveTo>
                <a:lnTo>
                  <a:pt x="10754367" y="0"/>
                </a:lnTo>
                <a:lnTo>
                  <a:pt x="10754367" y="2713876"/>
                </a:lnTo>
                <a:lnTo>
                  <a:pt x="0" y="2713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747" y="2102614"/>
            <a:ext cx="9941452" cy="532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</a:p>
          <a:p>
            <a:pPr algn="l" marL="604521" indent="-302261" lvl="1">
              <a:lnSpc>
                <a:spcPts val="7000"/>
              </a:lnSpc>
              <a:buFont typeface="Arial"/>
              <a:buChar char="•"/>
            </a:pPr>
            <a:r>
              <a:rPr lang="en-US" b="true" sz="2800" spc="-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ITERACIÓN INICIAL</a:t>
            </a:r>
          </a:p>
          <a:p>
            <a:pPr algn="l" marL="604521" indent="-302261" lvl="1">
              <a:lnSpc>
                <a:spcPts val="7000"/>
              </a:lnSpc>
              <a:buFont typeface="Arial"/>
              <a:buChar char="•"/>
            </a:pPr>
            <a:r>
              <a:rPr lang="en-US" b="true" sz="2800" spc="-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ITERACIÓN DE DISEÑO Y DESARROLLO</a:t>
            </a:r>
          </a:p>
          <a:p>
            <a:pPr algn="l" marL="604521" indent="-302261" lvl="1">
              <a:lnSpc>
                <a:spcPts val="7000"/>
              </a:lnSpc>
              <a:buFont typeface="Arial"/>
              <a:buChar char="•"/>
            </a:pPr>
            <a:r>
              <a:rPr lang="en-US" b="true" sz="2800" spc="-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ITERACIÓN DE INTEGRACION CLAVE</a:t>
            </a:r>
          </a:p>
          <a:p>
            <a:pPr algn="l" marL="604521" indent="-302261" lvl="1">
              <a:lnSpc>
                <a:spcPts val="7000"/>
              </a:lnSpc>
              <a:buFont typeface="Arial"/>
              <a:buChar char="•"/>
            </a:pPr>
            <a:r>
              <a:rPr lang="en-US" b="true" sz="2800" spc="-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ITERACIÓN DE DETALLES</a:t>
            </a:r>
          </a:p>
          <a:p>
            <a:pPr algn="l" marL="604521" indent="-302261" lvl="1">
              <a:lnSpc>
                <a:spcPts val="7000"/>
              </a:lnSpc>
              <a:buFont typeface="Arial"/>
              <a:buChar char="•"/>
            </a:pPr>
            <a:r>
              <a:rPr lang="en-US" b="true" sz="2800" spc="-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ITERACIÓN POST ENTREGA</a:t>
            </a:r>
          </a:p>
          <a:p>
            <a:pPr algn="l" marL="0" indent="0" lvl="0">
              <a:lnSpc>
                <a:spcPts val="106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18360"/>
            <a:ext cx="7531251" cy="141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  <a:spcBef>
                <a:spcPct val="0"/>
              </a:spcBef>
            </a:pPr>
            <a:r>
              <a:rPr lang="en-US" b="true" sz="5150" spc="36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FASES O ITERACIONES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3746" y="440648"/>
            <a:ext cx="8210804" cy="1176104"/>
            <a:chOff x="0" y="0"/>
            <a:chExt cx="10947738" cy="156813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655033" y="331370"/>
              <a:ext cx="9292705" cy="12367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890"/>
                </a:lnSpc>
                <a:spcBef>
                  <a:spcPct val="0"/>
                </a:spcBef>
              </a:pPr>
              <a:r>
                <a:rPr lang="en-US" b="true" sz="6500" spc="45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DIAGRAMA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3289" cy="1253289"/>
            </a:xfrm>
            <a:custGeom>
              <a:avLst/>
              <a:gdLst/>
              <a:ahLst/>
              <a:cxnLst/>
              <a:rect r="r" b="b" t="t" l="l"/>
              <a:pathLst>
                <a:path h="1253289" w="1253289">
                  <a:moveTo>
                    <a:pt x="0" y="0"/>
                  </a:moveTo>
                  <a:lnTo>
                    <a:pt x="1253289" y="0"/>
                  </a:lnTo>
                  <a:lnTo>
                    <a:pt x="1253289" y="1253289"/>
                  </a:lnTo>
                  <a:lnTo>
                    <a:pt x="0" y="1253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27207" y="337539"/>
              <a:ext cx="625262" cy="58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3"/>
                </a:lnSpc>
                <a:spcBef>
                  <a:spcPct val="0"/>
                </a:spcBef>
              </a:pPr>
              <a:r>
                <a:rPr lang="en-US" b="true" sz="3116" spc="-6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5400000">
            <a:off x="15861369" y="-18053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1876182">
            <a:off x="15184806" y="7380059"/>
            <a:ext cx="3234258" cy="2619749"/>
          </a:xfrm>
          <a:custGeom>
            <a:avLst/>
            <a:gdLst/>
            <a:ahLst/>
            <a:cxnLst/>
            <a:rect r="r" b="b" t="t" l="l"/>
            <a:pathLst>
              <a:path h="2619749" w="3234258">
                <a:moveTo>
                  <a:pt x="0" y="2619749"/>
                </a:moveTo>
                <a:lnTo>
                  <a:pt x="3234258" y="2619749"/>
                </a:lnTo>
                <a:lnTo>
                  <a:pt x="3234258" y="0"/>
                </a:lnTo>
                <a:lnTo>
                  <a:pt x="0" y="0"/>
                </a:lnTo>
                <a:lnTo>
                  <a:pt x="0" y="26197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02555" y="1616752"/>
            <a:ext cx="10823990" cy="8110413"/>
          </a:xfrm>
          <a:custGeom>
            <a:avLst/>
            <a:gdLst/>
            <a:ahLst/>
            <a:cxnLst/>
            <a:rect r="r" b="b" t="t" l="l"/>
            <a:pathLst>
              <a:path h="8110413" w="10823990">
                <a:moveTo>
                  <a:pt x="0" y="0"/>
                </a:moveTo>
                <a:lnTo>
                  <a:pt x="10823990" y="0"/>
                </a:lnTo>
                <a:lnTo>
                  <a:pt x="10823990" y="8110413"/>
                </a:lnTo>
                <a:lnTo>
                  <a:pt x="0" y="81104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9989" y="8082196"/>
            <a:ext cx="939967" cy="939967"/>
          </a:xfrm>
          <a:custGeom>
            <a:avLst/>
            <a:gdLst/>
            <a:ahLst/>
            <a:cxnLst/>
            <a:rect r="r" b="b" t="t" l="l"/>
            <a:pathLst>
              <a:path h="939967" w="939967">
                <a:moveTo>
                  <a:pt x="0" y="0"/>
                </a:moveTo>
                <a:lnTo>
                  <a:pt x="939967" y="0"/>
                </a:lnTo>
                <a:lnTo>
                  <a:pt x="939967" y="939968"/>
                </a:lnTo>
                <a:lnTo>
                  <a:pt x="0" y="939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04490" y="1028700"/>
            <a:ext cx="2767019" cy="1155231"/>
          </a:xfrm>
          <a:custGeom>
            <a:avLst/>
            <a:gdLst/>
            <a:ahLst/>
            <a:cxnLst/>
            <a:rect r="r" b="b" t="t" l="l"/>
            <a:pathLst>
              <a:path h="1155231" w="2767019">
                <a:moveTo>
                  <a:pt x="0" y="0"/>
                </a:moveTo>
                <a:lnTo>
                  <a:pt x="2767020" y="0"/>
                </a:lnTo>
                <a:lnTo>
                  <a:pt x="2767020" y="1155231"/>
                </a:lnTo>
                <a:lnTo>
                  <a:pt x="0" y="1155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34209" y="8172534"/>
            <a:ext cx="11274829" cy="84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ROAD MAP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5394" y="8344875"/>
            <a:ext cx="468947" cy="43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3116" spc="-6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9993" y="2760768"/>
            <a:ext cx="15149661" cy="424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21800" indent="-640600" lvl="2">
              <a:lnSpc>
                <a:spcPts val="6676"/>
              </a:lnSpc>
              <a:buFont typeface="Arial"/>
              <a:buChar char="⚬"/>
            </a:pPr>
            <a:r>
              <a:rPr lang="en-US" b="true" sz="4450" spc="31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MES 1: </a:t>
            </a:r>
            <a:r>
              <a:rPr lang="en-US" sz="4450" spc="31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ITERACIÓN INICIAL</a:t>
            </a:r>
          </a:p>
          <a:p>
            <a:pPr algn="l" marL="1921800" indent="-640600" lvl="2">
              <a:lnSpc>
                <a:spcPts val="6676"/>
              </a:lnSpc>
              <a:buFont typeface="Arial"/>
              <a:buChar char="⚬"/>
            </a:pPr>
            <a:r>
              <a:rPr lang="en-US" b="true" sz="4450" spc="31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MES 2: </a:t>
            </a:r>
            <a:r>
              <a:rPr lang="en-US" sz="4450" spc="31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ITERACIÓN DISEÑO Y DESARROLLO</a:t>
            </a:r>
          </a:p>
          <a:p>
            <a:pPr algn="l" marL="1921800" indent="-640600" lvl="2">
              <a:lnSpc>
                <a:spcPts val="6676"/>
              </a:lnSpc>
              <a:buFont typeface="Arial"/>
              <a:buChar char="⚬"/>
            </a:pPr>
            <a:r>
              <a:rPr lang="en-US" b="true" sz="4450" spc="31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MES 3: </a:t>
            </a:r>
            <a:r>
              <a:rPr lang="en-US" sz="4450" spc="31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ITERACIÓN INTEGRACIÓN CLAVE</a:t>
            </a:r>
          </a:p>
          <a:p>
            <a:pPr algn="l" marL="1921800" indent="-640600" lvl="2">
              <a:lnSpc>
                <a:spcPts val="6676"/>
              </a:lnSpc>
              <a:buFont typeface="Arial"/>
              <a:buChar char="⚬"/>
            </a:pPr>
            <a:r>
              <a:rPr lang="en-US" b="true" sz="4450" spc="31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MES 4: </a:t>
            </a:r>
            <a:r>
              <a:rPr lang="en-US" sz="4450" spc="31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ITERACIÓN DETALLES</a:t>
            </a:r>
          </a:p>
          <a:p>
            <a:pPr algn="l" marL="1921800" indent="-640600" lvl="2">
              <a:lnSpc>
                <a:spcPts val="6676"/>
              </a:lnSpc>
              <a:buFont typeface="Arial"/>
              <a:buChar char="⚬"/>
            </a:pPr>
            <a:r>
              <a:rPr lang="en-US" b="true" sz="4450" spc="311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MES 5: </a:t>
            </a:r>
            <a:r>
              <a:rPr lang="en-US" sz="4450" spc="31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ITERACIÓN POST ENTREGA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DAHC2nQtvkU</dc:identifier>
  <dcterms:modified xsi:type="dcterms:W3CDTF">2011-08-01T06:04:30Z</dcterms:modified>
  <cp:revision>1</cp:revision>
  <dc:title>Presentación Proyecto Final Geométrico Negro y Blanco</dc:title>
</cp:coreProperties>
</file>